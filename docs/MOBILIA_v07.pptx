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12192000"/>
  <p:embeddedFontLst>
    <p:embeddedFont>
      <p:font typeface="Malgun Gothic" panose="020B0503020000020004" pitchFamily="50" charset="-127"/>
      <p:regular r:id="rId61"/>
      <p:bold r:id="rId62"/>
    </p:embeddedFont>
    <p:embeddedFont>
      <p:font typeface="Consolas" panose="020B0609020204030204" pitchFamily="49" charset="0"/>
      <p:regular r:id="rId63"/>
      <p:bold r:id="rId64"/>
      <p:italic r:id="rId65"/>
      <p:boldItalic r:id="rId66"/>
    </p:embeddedFont>
    <p:embeddedFont>
      <p:font typeface="Noto Sans KR" panose="020B0200000000000000" pitchFamily="50" charset="-127"/>
      <p:regular r:id="rId67"/>
      <p:bold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hREBFH72vPnGqLQABEAcKoiatF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4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5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5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5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bg>
      <p:bgPr>
        <a:solidFill>
          <a:srgbClr val="2B211B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180"/>
              </a:spcBef>
              <a:spcAft>
                <a:spcPts val="0"/>
              </a:spcAft>
              <a:buClr>
                <a:srgbClr val="A98563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60"/>
              </a:spcBef>
              <a:spcAft>
                <a:spcPts val="0"/>
              </a:spcAft>
              <a:buClr>
                <a:srgbClr val="C9B8A6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콘텐츠">
  <p:cSld name="PROJECT 콘텐츠">
    <p:bg>
      <p:bgPr>
        <a:solidFill>
          <a:srgbClr val="2B211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180"/>
              </a:spcBef>
              <a:spcAft>
                <a:spcPts val="0"/>
              </a:spcAft>
              <a:buClr>
                <a:srgbClr val="A98563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62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60"/>
              </a:spcBef>
              <a:spcAft>
                <a:spcPts val="0"/>
              </a:spcAft>
              <a:buClr>
                <a:srgbClr val="C9B8A6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표지">
  <p:cSld name="섹션 표지">
    <p:bg>
      <p:bgPr>
        <a:solidFill>
          <a:srgbClr val="2B211B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/>
          <p:nvPr/>
        </p:nvSpPr>
        <p:spPr>
          <a:xfrm>
            <a:off x="0" y="0"/>
            <a:ext cx="12191695" cy="3246120"/>
          </a:xfrm>
          <a:prstGeom prst="rect">
            <a:avLst/>
          </a:prstGeom>
          <a:solidFill>
            <a:srgbClr val="7B5E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3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200"/>
              </a:spcBef>
              <a:spcAft>
                <a:spcPts val="0"/>
              </a:spcAft>
              <a:buClr>
                <a:srgbClr val="F2E7D5"/>
              </a:buClr>
              <a:buSzPts val="11000"/>
              <a:buFont typeface="Arial"/>
              <a:buNone/>
              <a:defRPr sz="11000" b="0" i="0" u="none" strike="noStrike" cap="none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63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23" name="Google Shape;23;p63"/>
          <p:cNvCxnSpPr/>
          <p:nvPr/>
        </p:nvCxnSpPr>
        <p:spPr>
          <a:xfrm>
            <a:off x="548640" y="4709160"/>
            <a:ext cx="49377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63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C9B8A6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P 콘텐츠">
  <p:cSld name="SHOP 콘텐츠">
    <p:bg>
      <p:bgPr>
        <a:solidFill>
          <a:srgbClr val="2B211B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180"/>
              </a:spcBef>
              <a:spcAft>
                <a:spcPts val="0"/>
              </a:spcAft>
              <a:buClr>
                <a:srgbClr val="A98563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60"/>
              </a:spcBef>
              <a:spcAft>
                <a:spcPts val="0"/>
              </a:spcAft>
              <a:buClr>
                <a:srgbClr val="C9B8A6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DER 콘텐츠">
  <p:cSld name="ORDER 콘텐츠">
    <p:bg>
      <p:bgPr>
        <a:solidFill>
          <a:srgbClr val="2B211B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180"/>
              </a:spcBef>
              <a:spcAft>
                <a:spcPts val="0"/>
              </a:spcAft>
              <a:buClr>
                <a:srgbClr val="A98563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65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65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60"/>
              </a:spcBef>
              <a:spcAft>
                <a:spcPts val="0"/>
              </a:spcAft>
              <a:buClr>
                <a:srgbClr val="C9B8A6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MIN 콘텐츠">
  <p:cSld name="ADMIN 콘텐츠">
    <p:bg>
      <p:bgPr>
        <a:solidFill>
          <a:srgbClr val="2B211B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180"/>
              </a:spcBef>
              <a:spcAft>
                <a:spcPts val="0"/>
              </a:spcAft>
              <a:buClr>
                <a:srgbClr val="A98563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6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66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60"/>
              </a:spcBef>
              <a:spcAft>
                <a:spcPts val="0"/>
              </a:spcAft>
              <a:buClr>
                <a:srgbClr val="C9B8A6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bg>
      <p:bgPr>
        <a:solidFill>
          <a:srgbClr val="3B2A20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11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11B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"/>
          <p:cNvPicPr preferRelativeResize="0"/>
          <p:nvPr/>
        </p:nvPicPr>
        <p:blipFill rotWithShape="1">
          <a:blip r:embed="rId3">
            <a:alphaModFix amt="35000"/>
          </a:blip>
          <a:srcRect b="5598"/>
          <a:stretch/>
        </p:blipFill>
        <p:spPr>
          <a:xfrm>
            <a:off x="4997" y="-1"/>
            <a:ext cx="1089523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"/>
          <p:cNvSpPr txBox="1"/>
          <p:nvPr/>
        </p:nvSpPr>
        <p:spPr>
          <a:xfrm>
            <a:off x="3768952" y="4099289"/>
            <a:ext cx="288205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SPRING BOOT TEAM PROJECT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783758" y="2483631"/>
            <a:ext cx="6400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"/>
              <a:buNone/>
            </a:pPr>
            <a:r>
              <a:rPr lang="en-US" sz="9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 sz="9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1425864" y="2175854"/>
            <a:ext cx="53668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Furniture &amp; Living</a:t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 rot="5400000">
            <a:off x="10155803" y="1837627"/>
            <a:ext cx="343225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 rot="5400000">
            <a:off x="10052104" y="5226904"/>
            <a:ext cx="3047185" cy="315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Lead</a:t>
            </a: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백지영</a:t>
            </a: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 rot="5400000">
            <a:off x="10004781" y="5589698"/>
            <a:ext cx="373430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Crew          </a:t>
            </a: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김태민  김동건  박진우  김인회</a:t>
            </a: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i="0" u="none" strike="noStrike" cap="none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MOBILIA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8" name="Google Shape;58;p2"/>
          <p:cNvCxnSpPr/>
          <p:nvPr/>
        </p:nvCxnSpPr>
        <p:spPr>
          <a:xfrm>
            <a:off x="548640" y="1600200"/>
            <a:ext cx="11094415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" name="Google Shape;59;p2"/>
          <p:cNvSpPr txBox="1"/>
          <p:nvPr/>
        </p:nvSpPr>
        <p:spPr>
          <a:xfrm>
            <a:off x="548640" y="160020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280160" y="1600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소개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5212079" y="16002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팀 역할 / 기술 구조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0911535" y="16002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548640" y="21488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4" name="Google Shape;64;p2"/>
          <p:cNvSpPr txBox="1"/>
          <p:nvPr/>
        </p:nvSpPr>
        <p:spPr>
          <a:xfrm>
            <a:off x="548640" y="21488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1280160" y="21488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MEMBER  회원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5212079" y="21488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/ 로그인 / 회원정보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0911535" y="21488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8" name="Google Shape;68;p2"/>
          <p:cNvCxnSpPr/>
          <p:nvPr/>
        </p:nvCxnSpPr>
        <p:spPr>
          <a:xfrm>
            <a:off x="548640" y="269748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9" name="Google Shape;69;p2"/>
          <p:cNvSpPr txBox="1"/>
          <p:nvPr/>
        </p:nvSpPr>
        <p:spPr>
          <a:xfrm>
            <a:off x="548640" y="269748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1280160" y="26974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SHOP  상품 / 장바구니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212079" y="2697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탐색 / 상세와 관련 상품 / 장바구니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0911535" y="269748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3" name="Google Shape;73;p2"/>
          <p:cNvCxnSpPr/>
          <p:nvPr/>
        </p:nvCxnSpPr>
        <p:spPr>
          <a:xfrm>
            <a:off x="548640" y="324612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4" name="Google Shape;74;p2"/>
          <p:cNvSpPr txBox="1"/>
          <p:nvPr/>
        </p:nvSpPr>
        <p:spPr>
          <a:xfrm>
            <a:off x="548640" y="32461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1280160" y="32461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ORDER  주문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5212079" y="32461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생성 / 주문 Entity / 주문 내역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10911535" y="32461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23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8" name="Google Shape;78;p2"/>
          <p:cNvCxnSpPr/>
          <p:nvPr/>
        </p:nvCxnSpPr>
        <p:spPr>
          <a:xfrm>
            <a:off x="548640" y="379476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9" name="Google Shape;79;p2"/>
          <p:cNvSpPr txBox="1"/>
          <p:nvPr/>
        </p:nvSpPr>
        <p:spPr>
          <a:xfrm>
            <a:off x="548640" y="37947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1280160" y="379476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REVIEW  후기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5212079" y="379476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후기 작성 / 조회 / 댓글 / 추천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10911535" y="37947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31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3" name="Google Shape;83;p2"/>
          <p:cNvCxnSpPr/>
          <p:nvPr/>
        </p:nvCxnSpPr>
        <p:spPr>
          <a:xfrm>
            <a:off x="548640" y="434340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4" name="Google Shape;84;p2"/>
          <p:cNvSpPr txBox="1"/>
          <p:nvPr/>
        </p:nvSpPr>
        <p:spPr>
          <a:xfrm>
            <a:off x="548640" y="434340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85" name="Google Shape;85;p2"/>
          <p:cNvSpPr txBox="1"/>
          <p:nvPr/>
        </p:nvSpPr>
        <p:spPr>
          <a:xfrm>
            <a:off x="1280160" y="43434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  고객센터 문의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5212079" y="43434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 등록 / 내 문의 확인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10911535" y="43434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39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8" name="Google Shape;88;p2"/>
          <p:cNvCxnSpPr/>
          <p:nvPr/>
        </p:nvCxnSpPr>
        <p:spPr>
          <a:xfrm>
            <a:off x="548640" y="48920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9" name="Google Shape;89;p2"/>
          <p:cNvSpPr txBox="1"/>
          <p:nvPr/>
        </p:nvSpPr>
        <p:spPr>
          <a:xfrm>
            <a:off x="548640" y="48920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1280160" y="48920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ADMIN  관리자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5212079" y="48920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등록 / 상품 / 회원 / 주문 관리 / Q&amp;A 답변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911535" y="48920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45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548640" y="5440679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4" name="Google Shape;94;p2"/>
          <p:cNvSpPr txBox="1"/>
          <p:nvPr/>
        </p:nvSpPr>
        <p:spPr>
          <a:xfrm>
            <a:off x="548640" y="544067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280160" y="5440679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SUMMARY  정리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212079" y="5440679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입력부터 저장까지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911535" y="5440679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1B89A"/>
                </a:solidFill>
                <a:latin typeface="Noto Sans KR"/>
                <a:ea typeface="Noto Sans KR"/>
                <a:cs typeface="Noto Sans KR"/>
                <a:sym typeface="Noto Sans KR"/>
              </a:rPr>
              <a:t>58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548640" y="5989319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 /  TEAM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팀 역할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MOBILIA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1485052"/>
            <a:ext cx="2514600" cy="4297680"/>
          </a:xfrm>
          <a:prstGeom prst="rect">
            <a:avLst/>
          </a:prstGeom>
          <a:solidFill>
            <a:srgbClr val="7B5E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77240" y="1667933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2E7D5"/>
                </a:solidFill>
                <a:latin typeface="Noto Sans KR"/>
                <a:ea typeface="Noto Sans KR"/>
                <a:cs typeface="Noto Sans KR"/>
                <a:sym typeface="Noto Sans KR"/>
              </a:rPr>
              <a:t>TEAM LEAD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77240" y="1987973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2E7D5"/>
                </a:solidFill>
                <a:latin typeface="Noto Sans KR"/>
                <a:ea typeface="Noto Sans KR"/>
                <a:cs typeface="Noto Sans KR"/>
                <a:sym typeface="Noto Sans KR"/>
              </a:rPr>
              <a:t>백지영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77240" y="2628053"/>
            <a:ext cx="2103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관리, 업무 분배, 작업 파일 취합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리팩토링, 더미 데이터 취합, 테스트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UI 디자인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목록 조회/정렬/페이징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246120" y="1485052"/>
            <a:ext cx="4107027" cy="2057400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474720" y="1649645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김동건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667347" y="164964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74720" y="2125133"/>
            <a:ext cx="3695547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등록, 회원가입, 로그인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장바구니 조회/추가/삭제, 아이콘 개수 표시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조회 검색/정렬/페이징, 접기/펼치기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수량 선택, 후기 댓글(등록/수정/삭제)/추천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536027" y="1485052"/>
            <a:ext cx="4107027" cy="2057400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764627" y="1649645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김태민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0957255" y="164964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764627" y="2125133"/>
            <a:ext cx="3695547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검색/페이징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로그아웃, 회원정보 수정, 회원 탈퇴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주문(장바구니/상세 주문, 배송정보 입력)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주문 상세조회/취소, 상품 후기 등록/조회/수정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246120" y="3725333"/>
            <a:ext cx="4107027" cy="2057400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3474720" y="3889925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박진우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667347" y="388992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474720" y="4365413"/>
            <a:ext cx="3695547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수정/삭제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상품/회원 관리(수정/삭제/검색/정렬/페이징)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주문 관리(주문/배송 상태 변경 등)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Q&amp;A 관리(조회/삭제/답변 작성/검색/페이징)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536027" y="3725333"/>
            <a:ext cx="4107027" cy="2057400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764627" y="3889925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김인회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10957255" y="388992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764627" y="4365413"/>
            <a:ext cx="3695547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상품 관리(조회)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footer/로그인/회원가입/장바구니 페이지 디자인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상품 상세 관련 상품 슬라이드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 등록/조회/수정/삭제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 /  STRUCTURE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및 기본 구조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화면에서 보낸 요청이 Controller, Service, Repository를 거쳐 Entity 매핑에 따라 DB에 저장됩니다.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MOBILIA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548640" y="192024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BUILD.GRADLE 기준</a:t>
            </a:r>
            <a:endParaRPr/>
          </a:p>
        </p:txBody>
      </p:sp>
      <p:cxnSp>
        <p:nvCxnSpPr>
          <p:cNvPr id="139" name="Google Shape;139;p4"/>
          <p:cNvCxnSpPr/>
          <p:nvPr/>
        </p:nvCxnSpPr>
        <p:spPr>
          <a:xfrm>
            <a:off x="548640" y="224028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0" name="Google Shape;140;p4"/>
          <p:cNvSpPr txBox="1"/>
          <p:nvPr/>
        </p:nvSpPr>
        <p:spPr>
          <a:xfrm>
            <a:off x="548640" y="23774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Backend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148840" y="2377440"/>
            <a:ext cx="3794760" cy="45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Java 25 / Spring Boot 4.1.1 / Spring MVC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2877185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3014345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View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148840" y="3014345"/>
            <a:ext cx="3794760" cy="56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Thymeleaf / Layout Dialect / Thymeleaf Security extras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548640" y="362458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6" name="Google Shape;146;p4"/>
          <p:cNvSpPr txBox="1"/>
          <p:nvPr/>
        </p:nvSpPr>
        <p:spPr>
          <a:xfrm>
            <a:off x="548640" y="37617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Data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2148840" y="3761740"/>
            <a:ext cx="3794760" cy="45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Spring Data JPA / MySQL (mysql-connector-j)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8" name="Google Shape;148;p4"/>
          <p:cNvCxnSpPr/>
          <p:nvPr/>
        </p:nvCxnSpPr>
        <p:spPr>
          <a:xfrm>
            <a:off x="548640" y="4261485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9" name="Google Shape;149;p4"/>
          <p:cNvSpPr txBox="1"/>
          <p:nvPr/>
        </p:nvSpPr>
        <p:spPr>
          <a:xfrm>
            <a:off x="548640" y="4398645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/ 검증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2148840" y="4398645"/>
            <a:ext cx="3794760" cy="45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Spring Security (BCrypt) / Bean Validation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548640" y="489839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2" name="Google Shape;152;p4"/>
          <p:cNvSpPr txBox="1"/>
          <p:nvPr/>
        </p:nvSpPr>
        <p:spPr>
          <a:xfrm>
            <a:off x="548640" y="503555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도구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2148840" y="5035550"/>
            <a:ext cx="3794760" cy="45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Lombok / DevTools / Actuator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548640" y="5535295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5" name="Google Shape;155;p4"/>
          <p:cNvSpPr txBox="1"/>
          <p:nvPr/>
        </p:nvSpPr>
        <p:spPr>
          <a:xfrm>
            <a:off x="548640" y="5672455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라이브러리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2148840" y="5672455"/>
            <a:ext cx="3794760" cy="45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Bootstrap / jQuery / bxSlider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548640" y="617220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8" name="Google Shape;158;p4"/>
          <p:cNvSpPr txBox="1"/>
          <p:nvPr/>
        </p:nvSpPr>
        <p:spPr>
          <a:xfrm>
            <a:off x="6446520" y="192024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 STRUCTURE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446520" y="2240280"/>
            <a:ext cx="1463040" cy="475488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3A2E2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446520" y="224028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View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8092440" y="224028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Thymeleaf 화면 / form / fetch 요청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>
            <a:off x="7178040" y="2715768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63" name="Google Shape;163;p4"/>
          <p:cNvSpPr/>
          <p:nvPr/>
        </p:nvSpPr>
        <p:spPr>
          <a:xfrm>
            <a:off x="6446520" y="2898648"/>
            <a:ext cx="1463040" cy="475488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3A2E2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446520" y="2898648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Controller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8092440" y="2898648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요청 주소를 받아 입력값을 꺼내고 결과 화면을 정함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6" name="Google Shape;166;p4"/>
          <p:cNvCxnSpPr/>
          <p:nvPr/>
        </p:nvCxnSpPr>
        <p:spPr>
          <a:xfrm>
            <a:off x="7178040" y="3374136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67" name="Google Shape;167;p4"/>
          <p:cNvSpPr/>
          <p:nvPr/>
        </p:nvSpPr>
        <p:spPr>
          <a:xfrm>
            <a:off x="6446520" y="3557016"/>
            <a:ext cx="1463040" cy="475488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3A2E2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6446520" y="355701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8092440" y="3557016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조건 확인, 객체 생성 / 연결, 트랜잭션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0" name="Google Shape;170;p4"/>
          <p:cNvCxnSpPr/>
          <p:nvPr/>
        </p:nvCxnSpPr>
        <p:spPr>
          <a:xfrm>
            <a:off x="7178040" y="4032504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71" name="Google Shape;171;p4"/>
          <p:cNvSpPr/>
          <p:nvPr/>
        </p:nvSpPr>
        <p:spPr>
          <a:xfrm>
            <a:off x="6446520" y="4215384"/>
            <a:ext cx="1463040" cy="475488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3A2E2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6446520" y="421538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Repository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8092440" y="4215384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JpaRepository 상속 / 조회 메서드와 save()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4" name="Google Shape;174;p4"/>
          <p:cNvCxnSpPr/>
          <p:nvPr/>
        </p:nvCxnSpPr>
        <p:spPr>
          <a:xfrm>
            <a:off x="7178040" y="4690872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75" name="Google Shape;175;p4"/>
          <p:cNvSpPr/>
          <p:nvPr/>
        </p:nvSpPr>
        <p:spPr>
          <a:xfrm>
            <a:off x="6446520" y="4873752"/>
            <a:ext cx="1463040" cy="475488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3A2E2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446520" y="487375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Entity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092440" y="4873752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 필드와 테이블 컬럼 / 관계를 매핑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8" name="Google Shape;178;p4"/>
          <p:cNvCxnSpPr/>
          <p:nvPr/>
        </p:nvCxnSpPr>
        <p:spPr>
          <a:xfrm>
            <a:off x="7178040" y="5349240"/>
            <a:ext cx="0" cy="182880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79" name="Google Shape;179;p4"/>
          <p:cNvSpPr/>
          <p:nvPr/>
        </p:nvSpPr>
        <p:spPr>
          <a:xfrm>
            <a:off x="6446520" y="5532120"/>
            <a:ext cx="1463040" cy="475488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6446520" y="5532120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DB (MySQL)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8092440" y="553212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Entity 매핑에 따라 데이터가 행으로 저장됨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1000"/>
              <a:buNone/>
            </a:pPr>
            <a:r>
              <a:rPr lang="en-US" sz="1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</a:pPr>
            <a:r>
              <a:rPr lang="en-US" sz="40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400"/>
              <a:buNone/>
            </a:pPr>
            <a:r>
              <a:rPr lang="en-US" sz="14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회원가입과 로그인, 회원정보를 관리하는 과정입니다.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3127248" y="3913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회원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7086600" y="3767328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IN THIS SECTION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7086600" y="4041648"/>
            <a:ext cx="4553712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2" name="Google Shape;192;p5"/>
          <p:cNvSpPr txBox="1"/>
          <p:nvPr/>
        </p:nvSpPr>
        <p:spPr>
          <a:xfrm>
            <a:off x="7086600" y="40416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9592056" y="404164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SIGN UP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>
            <a:off x="7086600" y="4389120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5" name="Google Shape;195;p5"/>
          <p:cNvSpPr txBox="1"/>
          <p:nvPr/>
        </p:nvSpPr>
        <p:spPr>
          <a:xfrm>
            <a:off x="7086600" y="43891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 / 로그아웃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9592056" y="4389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LOGIN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7" name="Google Shape;197;p5"/>
          <p:cNvCxnSpPr/>
          <p:nvPr/>
        </p:nvCxnSpPr>
        <p:spPr>
          <a:xfrm>
            <a:off x="7086600" y="4736592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8" name="Google Shape;198;p5"/>
          <p:cNvSpPr txBox="1"/>
          <p:nvPr/>
        </p:nvSpPr>
        <p:spPr>
          <a:xfrm>
            <a:off x="7086600" y="47365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회원정보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9592056" y="473659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MY PAGE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00" name="Google Shape;200;p5"/>
          <p:cNvCxnSpPr/>
          <p:nvPr/>
        </p:nvCxnSpPr>
        <p:spPr>
          <a:xfrm>
            <a:off x="7086600" y="5084064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1" name="Google Shape;201;p5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MOBILIA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MEMBER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MEMBER  /  SIGN UP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화면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MOBILIA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MEMBER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id="213" name="Google Shape;213;p6" descr="회원가입 화면"/>
          <p:cNvPicPr preferRelativeResize="0"/>
          <p:nvPr/>
        </p:nvPicPr>
        <p:blipFill rotWithShape="1">
          <a:blip r:embed="rId3">
            <a:alphaModFix/>
          </a:blip>
          <a:srcRect t="6516" b="32450"/>
          <a:stretch/>
        </p:blipFill>
        <p:spPr>
          <a:xfrm>
            <a:off x="3584721" y="502240"/>
            <a:ext cx="7887612" cy="5679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>
                <a:solidFill>
                  <a:srgbClr val="A98563"/>
                </a:solidFill>
                <a:latin typeface="Noto Sans KR"/>
                <a:ea typeface="Noto Sans KR"/>
                <a:cs typeface="Noto Sans KR"/>
                <a:sym typeface="Noto Sans KR"/>
              </a:rPr>
              <a:t>MEMBER  /  SIGN UP CODE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7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회원가입 코드 ① View / Controller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7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폼이 보낸 값을 Controller가 검증하고 회원을 만든 뒤 Service에 저장을 넘깁니다.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48640" y="1920240"/>
            <a:ext cx="6903720" cy="4265675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749808" y="2066544"/>
            <a:ext cx="6583680" cy="404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signup.html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18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&lt;form th:object="${customer}" th:action="@{/customers/signup}" method="post" novalidate&gt;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&lt;!-- ... 계정 / 회원 / 주소 입력 칸 --&gt;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144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&lt;button type="submit"&gt;회원가입&lt;/button&gt;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147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/>
          </a:p>
          <a:p>
            <a:pPr marL="0" marR="0" lvl="0" indent="0" algn="l" rtl="0">
              <a:lnSpc>
                <a:spcPct val="138823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CustomerController.java / addCustomer()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50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@PostMapping("/signup")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String addCustomer(@Valid @ModelAttribute("customer") Customer customer,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BindingResult bindingResult)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55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(bindingResult.hasErrors())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log.info("회원 가입에 실패하였습니다.");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return "customer/signup";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58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비밀번호 / 비밀번호 확인 빈 값 검사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68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(customerService.isDuplicateCustomerId(customer.getCustomerId()))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69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bindingResult.rejectValue("customerId", "customerId_error",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"회원ID가 이미 존재합니다.");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return "customer/signup";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73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(!customer.getPassword().equals(customer.getPassword1()))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bindingResult.rejectValue("password1","password_error",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"비밀번호가 일치하지 않습니다.");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75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return "customer/signup";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79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Customer c = Customer.createCustomer(customer, passwordEncoder);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81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customerService.addCustomer(c);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"redirect:/";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226" name="Google Shape;226;p7"/>
          <p:cNvCxnSpPr/>
          <p:nvPr/>
        </p:nvCxnSpPr>
        <p:spPr>
          <a:xfrm>
            <a:off x="7726679" y="1920240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7" name="Google Shape;227;p7"/>
          <p:cNvSpPr txBox="1"/>
          <p:nvPr/>
        </p:nvSpPr>
        <p:spPr>
          <a:xfrm>
            <a:off x="7726679" y="20574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입력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915400" y="2057400"/>
            <a:ext cx="2727655" cy="117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 / 비밀번호 / 비밀번호 확인, 성별 / 이름 / 닉네임 / 국적 / 생년월일 / 이메일 / 휴대폰 번호, 주소를 입력합니다. 우편번호와 기본주소는 '주소 찾기'로 채웁니다.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29" name="Google Shape;229;p7"/>
          <p:cNvCxnSpPr/>
          <p:nvPr/>
        </p:nvCxnSpPr>
        <p:spPr>
          <a:xfrm>
            <a:off x="7726679" y="3279266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30" name="Google Shape;230;p7"/>
          <p:cNvSpPr txBox="1"/>
          <p:nvPr/>
        </p:nvSpPr>
        <p:spPr>
          <a:xfrm>
            <a:off x="7726679" y="3416426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 확인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8915400" y="3416426"/>
            <a:ext cx="2727655" cy="992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Noto Sans KR"/>
                <a:ea typeface="Noto Sans KR"/>
                <a:cs typeface="Noto Sans KR"/>
                <a:sym typeface="Noto Sans KR"/>
              </a:rPr>
              <a:t>Controller에서 @Valid로 필수 입력을 검사하고, 아이디 중복과 두 비밀번호가 같은지 확인합니다. 문제가 있으면 같은 화면에 메시지를 보여줍니다.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2" name="Google Shape;232;p7"/>
          <p:cNvCxnSpPr/>
          <p:nvPr/>
        </p:nvCxnSpPr>
        <p:spPr>
          <a:xfrm>
            <a:off x="7726679" y="4454271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MEMBER  /  SIGN UP CODE</a:t>
            </a:r>
            <a:endParaRPr/>
          </a:p>
        </p:txBody>
      </p:sp>
      <p:sp>
        <p:nvSpPr>
          <p:cNvPr id="238" name="Google Shape;238;p8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회원가입 코드 ② Service / Repository / Entity</a:t>
            </a:r>
            <a:endParaRPr/>
          </a:p>
        </p:txBody>
      </p:sp>
      <p:sp>
        <p:nvSpPr>
          <p:cNvPr id="239" name="Google Shape;239;p8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비밀번호 인코딩은 Entity 메서드에서, 저장은 Service가 Repository의 save()로 처리합니다.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548640" y="1920240"/>
            <a:ext cx="6903720" cy="3676395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749808" y="2066544"/>
            <a:ext cx="6583680" cy="345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Customer.java / createCustomer()  (Controller에서 호출)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91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static Customer createCustomer(Customer customer, PasswordEncoder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passwordEncoder)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92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customer.setPassword( passwordEncoder.encode(customer.getPassword()));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93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customer.setRole(Role.USER);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94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customer.setRegDate(LocalDateTime.now());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customer;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96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CustomerService.java / addCustomer()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30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void addCustomer(Customer customer)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31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customerRepository.save(customer);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32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CustomerRepository.java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interface CustomerRepository extends JpaRepository&lt;Customer, Long&gt;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save()는 JpaRepository가 제공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Customer.java / 주소 관계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82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@OneToOne(cascade = CascadeType.ALL)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83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@Valid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84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private Address address;</a:t>
            </a:r>
            <a:endParaRPr/>
          </a:p>
        </p:txBody>
      </p:sp>
      <p:cxnSp>
        <p:nvCxnSpPr>
          <p:cNvPr id="245" name="Google Shape;245;p8"/>
          <p:cNvCxnSpPr/>
          <p:nvPr/>
        </p:nvCxnSpPr>
        <p:spPr>
          <a:xfrm>
            <a:off x="7726679" y="1920240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46" name="Google Shape;246;p8"/>
          <p:cNvSpPr txBox="1"/>
          <p:nvPr/>
        </p:nvSpPr>
        <p:spPr>
          <a:xfrm>
            <a:off x="7726679" y="20574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 준비</a:t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8915400" y="2057400"/>
            <a:ext cx="2727655" cy="992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Controller가 Customer.createCustomer()를 호출해 비밀번호를 BCrypt로 인코딩하고, 권한 USER와 가입일을 넣습니다.</a:t>
            </a:r>
            <a:endParaRPr/>
          </a:p>
        </p:txBody>
      </p:sp>
      <p:cxnSp>
        <p:nvCxnSpPr>
          <p:cNvPr id="248" name="Google Shape;248;p8"/>
          <p:cNvCxnSpPr/>
          <p:nvPr/>
        </p:nvCxnSpPr>
        <p:spPr>
          <a:xfrm>
            <a:off x="7726679" y="3095244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49" name="Google Shape;249;p8"/>
          <p:cNvSpPr txBox="1"/>
          <p:nvPr/>
        </p:nvSpPr>
        <p:spPr>
          <a:xfrm>
            <a:off x="7726679" y="3232403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8915400" y="3232403"/>
            <a:ext cx="2727655" cy="808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CustomerService.addCustomer()가 save()로 저장합니다. 주소는 cascade 설정으로 회원과 함께 저장됩니다.</a:t>
            </a:r>
            <a:endParaRPr/>
          </a:p>
        </p:txBody>
      </p:sp>
      <p:cxnSp>
        <p:nvCxnSpPr>
          <p:cNvPr id="251" name="Google Shape;251;p8"/>
          <p:cNvCxnSpPr/>
          <p:nvPr/>
        </p:nvCxnSpPr>
        <p:spPr>
          <a:xfrm>
            <a:off x="7726679" y="4086225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MEMBER  /  LOGIN</a:t>
            </a:r>
            <a:endParaRPr/>
          </a:p>
        </p:txBody>
      </p:sp>
      <p:sp>
        <p:nvSpPr>
          <p:cNvPr id="257" name="Google Shape;257;p9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로그인 화면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1664022" y="1399032"/>
            <a:ext cx="8863650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9" descr="로그인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2310" y="1417320"/>
            <a:ext cx="8827074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MEMBER  /  LOGIN</a:t>
            </a:r>
            <a:endParaRPr/>
          </a:p>
        </p:txBody>
      </p:sp>
      <p:sp>
        <p:nvSpPr>
          <p:cNvPr id="268" name="Google Shape;268;p10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로그인 / 로그아웃 처리</a:t>
            </a:r>
            <a:endParaRPr/>
          </a:p>
        </p:txBody>
      </p:sp>
      <p:sp>
        <p:nvSpPr>
          <p:cNvPr id="269" name="Google Shape;269;p10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로그인 요청은 일반 Controller가 아니라 Spring Security가 받아 처리합니다.</a:t>
            </a:r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271" name="Google Shape;271;p10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cxnSp>
        <p:nvCxnSpPr>
          <p:cNvPr id="273" name="Google Shape;273;p10"/>
          <p:cNvCxnSpPr/>
          <p:nvPr/>
        </p:nvCxnSpPr>
        <p:spPr>
          <a:xfrm>
            <a:off x="548640" y="192024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74" name="Google Shape;274;p10"/>
          <p:cNvSpPr txBox="1"/>
          <p:nvPr/>
        </p:nvSpPr>
        <p:spPr>
          <a:xfrm>
            <a:off x="548640" y="2057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화면 열기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2148840" y="2057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/login → LoginController는 로그인 화면만 엽니다.</a:t>
            </a:r>
            <a:endParaRPr/>
          </a:p>
        </p:txBody>
      </p:sp>
      <p:cxnSp>
        <p:nvCxnSpPr>
          <p:cNvPr id="276" name="Google Shape;276;p10"/>
          <p:cNvCxnSpPr/>
          <p:nvPr/>
        </p:nvCxnSpPr>
        <p:spPr>
          <a:xfrm>
            <a:off x="548640" y="265176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77" name="Google Shape;277;p10"/>
          <p:cNvSpPr txBox="1"/>
          <p:nvPr/>
        </p:nvSpPr>
        <p:spPr>
          <a:xfrm>
            <a:off x="548640" y="27889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2148840" y="2788920"/>
            <a:ext cx="4572000" cy="86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customerId / password를 POST /login으로 보내면 Security가 받습니다. LoginService가 findByCustomerId()로 회원을 찾고, Security가 BCrypt로 비밀번호를 비교합니다.</a:t>
            </a:r>
            <a:endParaRPr/>
          </a:p>
        </p:txBody>
      </p:sp>
      <p:cxnSp>
        <p:nvCxnSpPr>
          <p:cNvPr id="279" name="Google Shape;279;p10"/>
          <p:cNvCxnSpPr/>
          <p:nvPr/>
        </p:nvCxnSpPr>
        <p:spPr>
          <a:xfrm>
            <a:off x="548640" y="369531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0" name="Google Shape;280;p10"/>
          <p:cNvSpPr txBox="1"/>
          <p:nvPr/>
        </p:nvSpPr>
        <p:spPr>
          <a:xfrm>
            <a:off x="548640" y="383247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2148840" y="383247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성공하면 메인(/), 실패하면 /loginFailed에서 오류 문구를 보여줍니다. 로그인 때 새로 저장하는 데이터는 없습니다.</a:t>
            </a:r>
            <a:endParaRPr/>
          </a:p>
        </p:txBody>
      </p:sp>
      <p:cxnSp>
        <p:nvCxnSpPr>
          <p:cNvPr id="282" name="Google Shape;282;p10"/>
          <p:cNvCxnSpPr/>
          <p:nvPr/>
        </p:nvCxnSpPr>
        <p:spPr>
          <a:xfrm>
            <a:off x="548640" y="453732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3" name="Google Shape;283;p10"/>
          <p:cNvSpPr txBox="1"/>
          <p:nvPr/>
        </p:nvSpPr>
        <p:spPr>
          <a:xfrm>
            <a:off x="548640" y="467448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로그아웃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2148840" y="467448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/logout 요청 시 세션을 지우고 JSESSIONID 쿠키를 삭제한 뒤 메인으로 갑니다.</a:t>
            </a:r>
            <a:endParaRPr/>
          </a:p>
        </p:txBody>
      </p:sp>
      <p:cxnSp>
        <p:nvCxnSpPr>
          <p:cNvPr id="285" name="Google Shape;285;p10"/>
          <p:cNvCxnSpPr/>
          <p:nvPr/>
        </p:nvCxnSpPr>
        <p:spPr>
          <a:xfrm>
            <a:off x="548640" y="537933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6" name="Google Shape;286;p10"/>
          <p:cNvSpPr txBox="1"/>
          <p:nvPr/>
        </p:nvSpPr>
        <p:spPr>
          <a:xfrm>
            <a:off x="7178040" y="192024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7178040" y="2249424"/>
            <a:ext cx="4465015" cy="317601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7379208" y="2395728"/>
            <a:ext cx="4144975" cy="295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SecurityConfig.java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35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.formLogin(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36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(FormLoginConfigurer&lt;HttpSecurity&gt;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formLogin) -&gt; formLogin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37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.loginPage("/login")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38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.loginProcessingUrl("/login")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39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.defaultSuccessUrl("/")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.failureUrl("/loginFailed")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41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.usernameParameter("customerId")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42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.passwordParameter("password")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43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LoginService.java / loadUserByUsername()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27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Optional&lt;Customer&gt; optionalCustomer =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28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customerRepository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.findByCustomerId(customerId);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if (optionalCustomer.isEmpty())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31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throw new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UsernameNotFoundException(customerId);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32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MEMBER  /  MY PAGE</a:t>
            </a:r>
            <a:endParaRPr/>
          </a:p>
        </p:txBody>
      </p:sp>
      <p:sp>
        <p:nvSpPr>
          <p:cNvPr id="294" name="Google Shape;294;p11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회원정보 화면</a:t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id="298" name="Google Shape;298;p11" descr="회원정보 화면"/>
          <p:cNvPicPr preferRelativeResize="0"/>
          <p:nvPr/>
        </p:nvPicPr>
        <p:blipFill rotWithShape="1">
          <a:blip r:embed="rId3">
            <a:alphaModFix/>
          </a:blip>
          <a:srcRect t="5992" b="32179"/>
          <a:stretch/>
        </p:blipFill>
        <p:spPr>
          <a:xfrm>
            <a:off x="3769477" y="502289"/>
            <a:ext cx="7873578" cy="5679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MEMBER  /  MY PAGE</a:t>
            </a:r>
            <a:endParaRPr/>
          </a:p>
        </p:txBody>
      </p:sp>
      <p:sp>
        <p:nvSpPr>
          <p:cNvPr id="304" name="Google Shape;304;p1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회원정보 조회 / 수정 / 탈퇴</a:t>
            </a:r>
            <a:endParaRPr/>
          </a:p>
        </p:txBody>
      </p:sp>
      <p:sp>
        <p:nvSpPr>
          <p:cNvPr id="305" name="Google Shape;305;p12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마이페이지에서 내 정보를 확인하고 고치거나 탈퇴할 수 있습니다.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MEMBER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cxnSp>
        <p:nvCxnSpPr>
          <p:cNvPr id="309" name="Google Shape;309;p12"/>
          <p:cNvCxnSpPr/>
          <p:nvPr/>
        </p:nvCxnSpPr>
        <p:spPr>
          <a:xfrm>
            <a:off x="548640" y="231817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10" name="Google Shape;310;p12"/>
          <p:cNvSpPr txBox="1"/>
          <p:nvPr/>
        </p:nvSpPr>
        <p:spPr>
          <a:xfrm>
            <a:off x="548640" y="2455334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조회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2377440" y="2455334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/customers/profile. 로그인한 아이디로 회원을 찾아 채우고 비밀번호 칸은 비워 둡니다. 아이디는 읽기 전용입니다.</a:t>
            </a:r>
            <a:endParaRPr/>
          </a:p>
        </p:txBody>
      </p:sp>
      <p:cxnSp>
        <p:nvCxnSpPr>
          <p:cNvPr id="312" name="Google Shape;312;p12"/>
          <p:cNvCxnSpPr/>
          <p:nvPr/>
        </p:nvCxnSpPr>
        <p:spPr>
          <a:xfrm>
            <a:off x="548640" y="31952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13" name="Google Shape;313;p12"/>
          <p:cNvSpPr txBox="1"/>
          <p:nvPr/>
        </p:nvSpPr>
        <p:spPr>
          <a:xfrm>
            <a:off x="548640" y="3332396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수정</a:t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2377440" y="3332396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POST /customers/update. 새 비밀번호를 입력했을 때만 확인 값과 비교해 인코딩하고, 나머지 정보와 주소를 기존 회원에 반영합니다. (updateCustomer)</a:t>
            </a:r>
            <a:endParaRPr/>
          </a:p>
        </p:txBody>
      </p:sp>
      <p:cxnSp>
        <p:nvCxnSpPr>
          <p:cNvPr id="315" name="Google Shape;315;p12"/>
          <p:cNvCxnSpPr/>
          <p:nvPr/>
        </p:nvCxnSpPr>
        <p:spPr>
          <a:xfrm>
            <a:off x="548640" y="4072298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16" name="Google Shape;316;p12"/>
          <p:cNvSpPr txBox="1"/>
          <p:nvPr/>
        </p:nvSpPr>
        <p:spPr>
          <a:xfrm>
            <a:off x="548640" y="4209458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탈퇴</a:t>
            </a:r>
            <a:endParaRPr/>
          </a:p>
        </p:txBody>
      </p:sp>
      <p:sp>
        <p:nvSpPr>
          <p:cNvPr id="317" name="Google Shape;317;p12"/>
          <p:cNvSpPr txBox="1"/>
          <p:nvPr/>
        </p:nvSpPr>
        <p:spPr>
          <a:xfrm>
            <a:off x="2377440" y="4209458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확인 창 → GET /customers/delete. 회원을 삭제한 뒤 로그인 정보를 지우고 메인으로 이동합니다. (deleteCustomer)</a:t>
            </a:r>
            <a:endParaRPr/>
          </a:p>
        </p:txBody>
      </p:sp>
      <p:cxnSp>
        <p:nvCxnSpPr>
          <p:cNvPr id="318" name="Google Shape;318;p12"/>
          <p:cNvCxnSpPr/>
          <p:nvPr/>
        </p:nvCxnSpPr>
        <p:spPr>
          <a:xfrm>
            <a:off x="548640" y="494936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1000"/>
              <a:buNone/>
            </a:pPr>
            <a:r>
              <a:rPr lang="en-US" sz="1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</a:pPr>
            <a:r>
              <a:rPr lang="en-US" sz="40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325" name="Google Shape;325;p13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400"/>
              <a:buNone/>
            </a:pPr>
            <a:r>
              <a:rPr lang="en-US" sz="14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상품을 찾아보고, 상세 정보를 확인하고, 장바구니에 담기까지의 과정입니다.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2359151" y="3913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상품 / 장바구니</a:t>
            </a:r>
            <a:endParaRPr/>
          </a:p>
        </p:txBody>
      </p:sp>
      <p:sp>
        <p:nvSpPr>
          <p:cNvPr id="327" name="Google Shape;327;p13"/>
          <p:cNvSpPr txBox="1"/>
          <p:nvPr/>
        </p:nvSpPr>
        <p:spPr>
          <a:xfrm>
            <a:off x="7086600" y="3767328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IN THIS SECTION</a:t>
            </a:r>
            <a:endParaRPr/>
          </a:p>
        </p:txBody>
      </p:sp>
      <p:cxnSp>
        <p:nvCxnSpPr>
          <p:cNvPr id="328" name="Google Shape;328;p13"/>
          <p:cNvCxnSpPr/>
          <p:nvPr/>
        </p:nvCxnSpPr>
        <p:spPr>
          <a:xfrm>
            <a:off x="7086600" y="4041648"/>
            <a:ext cx="4553712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29" name="Google Shape;329;p13"/>
          <p:cNvSpPr txBox="1"/>
          <p:nvPr/>
        </p:nvSpPr>
        <p:spPr>
          <a:xfrm>
            <a:off x="7086600" y="40416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탐색</a:t>
            </a:r>
            <a:endParaRPr/>
          </a:p>
        </p:txBody>
      </p:sp>
      <p:sp>
        <p:nvSpPr>
          <p:cNvPr id="330" name="Google Shape;330;p13"/>
          <p:cNvSpPr txBox="1"/>
          <p:nvPr/>
        </p:nvSpPr>
        <p:spPr>
          <a:xfrm>
            <a:off x="9592056" y="404164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PRODUCT LIST</a:t>
            </a:r>
            <a:endParaRPr/>
          </a:p>
        </p:txBody>
      </p:sp>
      <p:cxnSp>
        <p:nvCxnSpPr>
          <p:cNvPr id="331" name="Google Shape;331;p13"/>
          <p:cNvCxnSpPr/>
          <p:nvPr/>
        </p:nvCxnSpPr>
        <p:spPr>
          <a:xfrm>
            <a:off x="7086600" y="4389120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2" name="Google Shape;332;p13"/>
          <p:cNvSpPr txBox="1"/>
          <p:nvPr/>
        </p:nvSpPr>
        <p:spPr>
          <a:xfrm>
            <a:off x="7086600" y="43891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상세 / 관련 상품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9592056" y="4389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PRODUCT DETAIL</a:t>
            </a:r>
            <a:endParaRPr/>
          </a:p>
        </p:txBody>
      </p:sp>
      <p:cxnSp>
        <p:nvCxnSpPr>
          <p:cNvPr id="334" name="Google Shape;334;p13"/>
          <p:cNvCxnSpPr/>
          <p:nvPr/>
        </p:nvCxnSpPr>
        <p:spPr>
          <a:xfrm>
            <a:off x="7086600" y="4736592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5" name="Google Shape;335;p13"/>
          <p:cNvSpPr txBox="1"/>
          <p:nvPr/>
        </p:nvSpPr>
        <p:spPr>
          <a:xfrm>
            <a:off x="7086600" y="47365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추가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9592056" y="473659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ADD TO CART</a:t>
            </a:r>
            <a:endParaRPr/>
          </a:p>
        </p:txBody>
      </p:sp>
      <p:cxnSp>
        <p:nvCxnSpPr>
          <p:cNvPr id="337" name="Google Shape;337;p13"/>
          <p:cNvCxnSpPr/>
          <p:nvPr/>
        </p:nvCxnSpPr>
        <p:spPr>
          <a:xfrm>
            <a:off x="7086600" y="5084064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38" name="Google Shape;338;p13"/>
          <p:cNvSpPr txBox="1"/>
          <p:nvPr/>
        </p:nvSpPr>
        <p:spPr>
          <a:xfrm>
            <a:off x="7086600" y="508406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이용</a:t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9592056" y="5084064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CART</a:t>
            </a:r>
            <a:endParaRPr/>
          </a:p>
        </p:txBody>
      </p:sp>
      <p:cxnSp>
        <p:nvCxnSpPr>
          <p:cNvPr id="340" name="Google Shape;340;p13"/>
          <p:cNvCxnSpPr/>
          <p:nvPr/>
        </p:nvCxnSpPr>
        <p:spPr>
          <a:xfrm>
            <a:off x="7086600" y="5431536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41" name="Google Shape;341;p13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PRODUCT LIST</a:t>
            </a:r>
            <a:endParaRPr/>
          </a:p>
        </p:txBody>
      </p:sp>
      <p:sp>
        <p:nvSpPr>
          <p:cNvPr id="349" name="Google Shape;349;p1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목록 화면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351" name="Google Shape;351;p14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id="353" name="Google Shape;353;p14" descr="상품 목록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4066" y="274320"/>
            <a:ext cx="6104467" cy="595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PRODUCT LIST</a:t>
            </a:r>
            <a:endParaRPr/>
          </a:p>
        </p:txBody>
      </p:sp>
      <p:sp>
        <p:nvSpPr>
          <p:cNvPr id="359" name="Google Shape;359;p15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목록 조회 방식</a:t>
            </a:r>
            <a:endParaRPr/>
          </a:p>
        </p:txBody>
      </p:sp>
      <p:sp>
        <p:nvSpPr>
          <p:cNvPr id="360" name="Google Shape;360;p15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상단 메뉴와 검색창에서 목록으로 들어가며 목록마다 조회 개수와 정렬 방식이 조금씩 다릅니다.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cxnSp>
        <p:nvCxnSpPr>
          <p:cNvPr id="364" name="Google Shape;364;p15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65" name="Google Shape;365;p15"/>
          <p:cNvSpPr txBox="1"/>
          <p:nvPr/>
        </p:nvSpPr>
        <p:spPr>
          <a:xfrm>
            <a:off x="548640" y="202996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모든 상품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2286000" y="20299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/products/all</a:t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6309359" y="2029968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getPageable() / 12개씩 / 정렬 선택</a:t>
            </a:r>
            <a:endParaRPr/>
          </a:p>
        </p:txBody>
      </p:sp>
      <p:cxnSp>
        <p:nvCxnSpPr>
          <p:cNvPr id="368" name="Google Shape;368;p15"/>
          <p:cNvCxnSpPr/>
          <p:nvPr/>
        </p:nvCxnSpPr>
        <p:spPr>
          <a:xfrm>
            <a:off x="548640" y="2487168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69" name="Google Shape;369;p15"/>
          <p:cNvSpPr txBox="1"/>
          <p:nvPr/>
        </p:nvSpPr>
        <p:spPr>
          <a:xfrm>
            <a:off x="548640" y="259689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공간별 가구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2286000" y="259689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/products/category/{category1}</a:t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6309359" y="259689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품목(category2) 버튼으로 다시 거름 / 12개씩 / 정렬 선택</a:t>
            </a:r>
            <a:endParaRPr/>
          </a:p>
        </p:txBody>
      </p:sp>
      <p:cxnSp>
        <p:nvCxnSpPr>
          <p:cNvPr id="372" name="Google Shape;372;p15"/>
          <p:cNvCxnSpPr/>
          <p:nvPr/>
        </p:nvCxnSpPr>
        <p:spPr>
          <a:xfrm>
            <a:off x="548640" y="305409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73" name="Google Shape;373;p15"/>
          <p:cNvSpPr txBox="1"/>
          <p:nvPr/>
        </p:nvSpPr>
        <p:spPr>
          <a:xfrm>
            <a:off x="548640" y="316382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브랜드</a:t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2286000" y="3163824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/products/brand/{brand}</a:t>
            </a:r>
            <a:endParaRPr/>
          </a:p>
        </p:txBody>
      </p:sp>
      <p:sp>
        <p:nvSpPr>
          <p:cNvPr id="375" name="Google Shape;375;p15"/>
          <p:cNvSpPr txBox="1"/>
          <p:nvPr/>
        </p:nvSpPr>
        <p:spPr>
          <a:xfrm>
            <a:off x="6309359" y="3163824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getPageable() / 12개씩 / 정렬 선택</a:t>
            </a:r>
            <a:endParaRPr/>
          </a:p>
        </p:txBody>
      </p:sp>
      <p:cxnSp>
        <p:nvCxnSpPr>
          <p:cNvPr id="376" name="Google Shape;376;p15"/>
          <p:cNvCxnSpPr/>
          <p:nvPr/>
        </p:nvCxnSpPr>
        <p:spPr>
          <a:xfrm>
            <a:off x="548640" y="362102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77" name="Google Shape;377;p15"/>
          <p:cNvSpPr txBox="1"/>
          <p:nvPr/>
        </p:nvSpPr>
        <p:spPr>
          <a:xfrm>
            <a:off x="548640" y="373075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검색</a:t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2286000" y="373075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/products/search?keyword=</a:t>
            </a:r>
            <a:endParaRPr/>
          </a:p>
        </p:txBody>
      </p:sp>
      <p:sp>
        <p:nvSpPr>
          <p:cNvPr id="379" name="Google Shape;379;p15"/>
          <p:cNvSpPr txBox="1"/>
          <p:nvPr/>
        </p:nvSpPr>
        <p:spPr>
          <a:xfrm>
            <a:off x="6309359" y="3730752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등록일 최신순 12개씩 (정렬 선택 없음)</a:t>
            </a:r>
            <a:endParaRPr/>
          </a:p>
        </p:txBody>
      </p:sp>
      <p:cxnSp>
        <p:nvCxnSpPr>
          <p:cNvPr id="380" name="Google Shape;380;p15"/>
          <p:cNvCxnSpPr/>
          <p:nvPr/>
        </p:nvCxnSpPr>
        <p:spPr>
          <a:xfrm>
            <a:off x="548640" y="418795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81" name="Google Shape;381;p15"/>
          <p:cNvSpPr txBox="1"/>
          <p:nvPr/>
        </p:nvSpPr>
        <p:spPr>
          <a:xfrm>
            <a:off x="548640" y="429768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신상품</a:t>
            </a:r>
            <a:endParaRPr/>
          </a:p>
        </p:txBody>
      </p:sp>
      <p:sp>
        <p:nvSpPr>
          <p:cNvPr id="382" name="Google Shape;382;p15"/>
          <p:cNvSpPr txBox="1"/>
          <p:nvPr/>
        </p:nvSpPr>
        <p:spPr>
          <a:xfrm>
            <a:off x="2286000" y="429768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/products/new</a:t>
            </a:r>
            <a:endParaRPr/>
          </a:p>
        </p:txBody>
      </p:sp>
      <p:sp>
        <p:nvSpPr>
          <p:cNvPr id="383" name="Google Shape;383;p15"/>
          <p:cNvSpPr txBox="1"/>
          <p:nvPr/>
        </p:nvSpPr>
        <p:spPr>
          <a:xfrm>
            <a:off x="6309359" y="4297680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findTop16ByOrderByRegDateDesc() / 최신 16개 (페이징 없음)</a:t>
            </a:r>
            <a:endParaRPr/>
          </a:p>
        </p:txBody>
      </p:sp>
      <p:cxnSp>
        <p:nvCxnSpPr>
          <p:cNvPr id="384" name="Google Shape;384;p15"/>
          <p:cNvCxnSpPr/>
          <p:nvPr/>
        </p:nvCxnSpPr>
        <p:spPr>
          <a:xfrm>
            <a:off x="548640" y="475488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85" name="Google Shape;385;p15"/>
          <p:cNvSpPr txBox="1"/>
          <p:nvPr/>
        </p:nvSpPr>
        <p:spPr>
          <a:xfrm>
            <a:off x="548640" y="507492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DATA FLOW</a:t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548640" y="5394960"/>
            <a:ext cx="1280160" cy="438912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548640" y="539496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cxnSp>
        <p:nvCxnSpPr>
          <p:cNvPr id="388" name="Google Shape;388;p15"/>
          <p:cNvCxnSpPr/>
          <p:nvPr/>
        </p:nvCxnSpPr>
        <p:spPr>
          <a:xfrm>
            <a:off x="1856231" y="5614416"/>
            <a:ext cx="219456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389" name="Google Shape;389;p15"/>
          <p:cNvSpPr/>
          <p:nvPr/>
        </p:nvSpPr>
        <p:spPr>
          <a:xfrm>
            <a:off x="2103120" y="5394960"/>
            <a:ext cx="1280160" cy="438912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2103120" y="539496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</p:txBody>
      </p:sp>
      <p:cxnSp>
        <p:nvCxnSpPr>
          <p:cNvPr id="391" name="Google Shape;391;p15"/>
          <p:cNvCxnSpPr/>
          <p:nvPr/>
        </p:nvCxnSpPr>
        <p:spPr>
          <a:xfrm>
            <a:off x="3410711" y="5614416"/>
            <a:ext cx="219457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392" name="Google Shape;392;p15"/>
          <p:cNvSpPr/>
          <p:nvPr/>
        </p:nvSpPr>
        <p:spPr>
          <a:xfrm>
            <a:off x="3657600" y="5394960"/>
            <a:ext cx="1280160" cy="438912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3657600" y="539496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cxnSp>
        <p:nvCxnSpPr>
          <p:cNvPr id="394" name="Google Shape;394;p15"/>
          <p:cNvCxnSpPr/>
          <p:nvPr/>
        </p:nvCxnSpPr>
        <p:spPr>
          <a:xfrm>
            <a:off x="4965192" y="5614416"/>
            <a:ext cx="219456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395" name="Google Shape;395;p15"/>
          <p:cNvSpPr/>
          <p:nvPr/>
        </p:nvSpPr>
        <p:spPr>
          <a:xfrm>
            <a:off x="5212079" y="5394960"/>
            <a:ext cx="1280160" cy="438912"/>
          </a:xfrm>
          <a:prstGeom prst="rect">
            <a:avLst/>
          </a:prstGeom>
          <a:solidFill>
            <a:srgbClr val="7B5E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5212079" y="539496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Page&lt;Product&gt;</a:t>
            </a:r>
            <a:endParaRPr/>
          </a:p>
        </p:txBody>
      </p:sp>
      <p:cxnSp>
        <p:nvCxnSpPr>
          <p:cNvPr id="397" name="Google Shape;397;p15"/>
          <p:cNvCxnSpPr/>
          <p:nvPr/>
        </p:nvCxnSpPr>
        <p:spPr>
          <a:xfrm>
            <a:off x="6519671" y="5614416"/>
            <a:ext cx="219456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398" name="Google Shape;398;p15"/>
          <p:cNvSpPr/>
          <p:nvPr/>
        </p:nvSpPr>
        <p:spPr>
          <a:xfrm>
            <a:off x="6766559" y="5394960"/>
            <a:ext cx="1280160" cy="438912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 txBox="1"/>
          <p:nvPr/>
        </p:nvSpPr>
        <p:spPr>
          <a:xfrm>
            <a:off x="6766559" y="5394960"/>
            <a:ext cx="1280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Thymeleaf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8412480" y="5349240"/>
            <a:ext cx="323057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정렬: 신상품순(regDate 내림차순) / 낮은 가격순 / 높은 가격순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PRODUCT DETAIL</a:t>
            </a:r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상세 화면</a:t>
            </a:r>
            <a:endParaRPr/>
          </a:p>
        </p:txBody>
      </p:sp>
      <p:sp>
        <p:nvSpPr>
          <p:cNvPr id="407" name="Google Shape;407;p16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408" name="Google Shape;408;p16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409" name="Google Shape;409;p16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pic>
        <p:nvPicPr>
          <p:cNvPr id="410" name="Google Shape;410;p16" descr="상품 상세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635" y="320507"/>
            <a:ext cx="7002010" cy="586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RELATED PRODUCTS</a:t>
            </a:r>
            <a:endParaRPr/>
          </a:p>
        </p:txBody>
      </p:sp>
      <p:sp>
        <p:nvSpPr>
          <p:cNvPr id="416" name="Google Shape;416;p17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관련 상품 조회 흐름</a:t>
            </a:r>
            <a:endParaRPr/>
          </a:p>
        </p:txBody>
      </p:sp>
      <p:sp>
        <p:nvSpPr>
          <p:cNvPr id="417" name="Google Shape;417;p17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상세 화면을 열 때 같은 품목 분류의 다른 상품을 함께 읽어 슬라이드로 보여줍니다.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cxnSp>
        <p:nvCxnSpPr>
          <p:cNvPr id="421" name="Google Shape;421;p17"/>
          <p:cNvCxnSpPr/>
          <p:nvPr/>
        </p:nvCxnSpPr>
        <p:spPr>
          <a:xfrm>
            <a:off x="548640" y="1920240"/>
            <a:ext cx="5120639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2" name="Google Shape;422;p17"/>
          <p:cNvSpPr txBox="1"/>
          <p:nvPr/>
        </p:nvSpPr>
        <p:spPr>
          <a:xfrm>
            <a:off x="548640" y="20574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상세 요청</a:t>
            </a:r>
            <a:endParaRPr/>
          </a:p>
        </p:txBody>
      </p:sp>
      <p:sp>
        <p:nvSpPr>
          <p:cNvPr id="423" name="Google Shape;423;p17"/>
          <p:cNvSpPr txBox="1"/>
          <p:nvPr/>
        </p:nvSpPr>
        <p:spPr>
          <a:xfrm>
            <a:off x="1965960" y="2057400"/>
            <a:ext cx="370332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/products/detail/{id} → getProductDetail()이 현재 상품을 읽습니다.</a:t>
            </a:r>
            <a:endParaRPr/>
          </a:p>
        </p:txBody>
      </p:sp>
      <p:cxnSp>
        <p:nvCxnSpPr>
          <p:cNvPr id="424" name="Google Shape;424;p17"/>
          <p:cNvCxnSpPr/>
          <p:nvPr/>
        </p:nvCxnSpPr>
        <p:spPr>
          <a:xfrm>
            <a:off x="548640" y="2762249"/>
            <a:ext cx="5120639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5" name="Google Shape;425;p17"/>
          <p:cNvSpPr txBox="1"/>
          <p:nvPr/>
        </p:nvSpPr>
        <p:spPr>
          <a:xfrm>
            <a:off x="548640" y="2899409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같은 분류 조회</a:t>
            </a:r>
            <a:endParaRPr/>
          </a:p>
        </p:txBody>
      </p:sp>
      <p:sp>
        <p:nvSpPr>
          <p:cNvPr id="426" name="Google Shape;426;p17"/>
          <p:cNvSpPr txBox="1"/>
          <p:nvPr/>
        </p:nvSpPr>
        <p:spPr>
          <a:xfrm>
            <a:off x="1965960" y="2899409"/>
            <a:ext cx="3703320" cy="86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findByCategory2AndIdNotOrderByIdDesc()로 같은 category2 상품을 가져오고 현재 상품은 뺍니다.</a:t>
            </a:r>
            <a:endParaRPr/>
          </a:p>
        </p:txBody>
      </p:sp>
      <p:cxnSp>
        <p:nvCxnSpPr>
          <p:cNvPr id="427" name="Google Shape;427;p17"/>
          <p:cNvCxnSpPr/>
          <p:nvPr/>
        </p:nvCxnSpPr>
        <p:spPr>
          <a:xfrm>
            <a:off x="548640" y="3805809"/>
            <a:ext cx="5120639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8" name="Google Shape;428;p17"/>
          <p:cNvSpPr txBox="1"/>
          <p:nvPr/>
        </p:nvSpPr>
        <p:spPr>
          <a:xfrm>
            <a:off x="548640" y="3942969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최대 10개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1965960" y="3942969"/>
            <a:ext cx="370332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Service에서 Collections.shuffle()로 섞고 10개가 넘으면 앞의 10개만 남깁니다.</a:t>
            </a:r>
            <a:endParaRPr/>
          </a:p>
        </p:txBody>
      </p:sp>
      <p:cxnSp>
        <p:nvCxnSpPr>
          <p:cNvPr id="430" name="Google Shape;430;p17"/>
          <p:cNvCxnSpPr/>
          <p:nvPr/>
        </p:nvCxnSpPr>
        <p:spPr>
          <a:xfrm>
            <a:off x="548640" y="4647819"/>
            <a:ext cx="5120639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1" name="Google Shape;431;p17"/>
          <p:cNvSpPr txBox="1"/>
          <p:nvPr/>
        </p:nvSpPr>
        <p:spPr>
          <a:xfrm>
            <a:off x="548640" y="4784979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슬라이드 표시</a:t>
            </a:r>
            <a:endParaRPr/>
          </a:p>
        </p:txBody>
      </p:sp>
      <p:sp>
        <p:nvSpPr>
          <p:cNvPr id="432" name="Google Shape;432;p17"/>
          <p:cNvSpPr txBox="1"/>
          <p:nvPr/>
        </p:nvSpPr>
        <p:spPr>
          <a:xfrm>
            <a:off x="1965960" y="4784979"/>
            <a:ext cx="3703320" cy="86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sliderProductList를 th:each로 카드로 만들고 bxSlider로 넘깁니다. 화면 너비에 따라 2~5개씩 보입니다.</a:t>
            </a:r>
            <a:endParaRPr/>
          </a:p>
        </p:txBody>
      </p:sp>
      <p:cxnSp>
        <p:nvCxnSpPr>
          <p:cNvPr id="433" name="Google Shape;433;p17"/>
          <p:cNvCxnSpPr/>
          <p:nvPr/>
        </p:nvCxnSpPr>
        <p:spPr>
          <a:xfrm>
            <a:off x="548640" y="5691378"/>
            <a:ext cx="5120639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4" name="Google Shape;434;p17"/>
          <p:cNvSpPr/>
          <p:nvPr/>
        </p:nvSpPr>
        <p:spPr>
          <a:xfrm>
            <a:off x="5989320" y="1920240"/>
            <a:ext cx="5653735" cy="357479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6190488" y="2066544"/>
            <a:ext cx="5333695" cy="3355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ProductController.java / getProductDetail()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44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List&lt;Product&gt; sliderProductList = productService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.getProductListBySlider(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product.getCategory2(), product.getId());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model.addAttribute("product", product);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48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model.addAttribute("sliderProductList", sliderProductList);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ProductService.java / getProductListBySlider()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51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List&lt;Product&gt; getProductListBySlider(String category2,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Long id)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53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List&lt;Product&gt; productList = productRepository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.findByCategory2AndIdNotOrderByIdDesc(category2, id);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54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Collections.shuffle(productList);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56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if(productList.size() &gt; 10)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57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return productList.subList(0, 10);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58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60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productList;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61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ProductRepository.java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42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List&lt;Product&gt; findByCategory2AndIdNotOrderByIdDesc(String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category2, Long id);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ADD TO CART</a:t>
            </a:r>
            <a:endParaRPr/>
          </a:p>
        </p:txBody>
      </p:sp>
      <p:sp>
        <p:nvSpPr>
          <p:cNvPr id="441" name="Google Shape;441;p18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추가 처리</a:t>
            </a:r>
            <a:endParaRPr/>
          </a:p>
        </p:txBody>
      </p:sp>
      <p:sp>
        <p:nvSpPr>
          <p:cNvPr id="442" name="Google Shape;442;p18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장바구니 버튼을 누르면 fetch로 POST /cart/add를 보내고 응답 숫자로 헤더 배지를 바로 바꿉니다.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cxnSp>
        <p:nvCxnSpPr>
          <p:cNvPr id="446" name="Google Shape;446;p18"/>
          <p:cNvCxnSpPr/>
          <p:nvPr/>
        </p:nvCxnSpPr>
        <p:spPr>
          <a:xfrm>
            <a:off x="548640" y="192024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47" name="Google Shape;447;p18"/>
          <p:cNvSpPr txBox="1"/>
          <p:nvPr/>
        </p:nvSpPr>
        <p:spPr>
          <a:xfrm>
            <a:off x="548640" y="2057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수량 확인 (화면)</a:t>
            </a:r>
            <a:endParaRPr/>
          </a:p>
        </p:txBody>
      </p:sp>
      <p:sp>
        <p:nvSpPr>
          <p:cNvPr id="448" name="Google Shape;448;p18"/>
          <p:cNvSpPr txBox="1"/>
          <p:nvPr/>
        </p:nvSpPr>
        <p:spPr>
          <a:xfrm>
            <a:off x="2148840" y="2057400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product.js가 수량이 1개 이상, 재고 이하인지 보고 숨은 quantity 값에 넣습니다.</a:t>
            </a:r>
            <a:endParaRPr/>
          </a:p>
        </p:txBody>
      </p:sp>
      <p:cxnSp>
        <p:nvCxnSpPr>
          <p:cNvPr id="449" name="Google Shape;449;p18"/>
          <p:cNvCxnSpPr/>
          <p:nvPr/>
        </p:nvCxnSpPr>
        <p:spPr>
          <a:xfrm>
            <a:off x="548640" y="276224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0" name="Google Shape;450;p18"/>
          <p:cNvSpPr txBox="1"/>
          <p:nvPr/>
        </p:nvSpPr>
        <p:spPr>
          <a:xfrm>
            <a:off x="548640" y="289940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</p:txBody>
      </p:sp>
      <p:sp>
        <p:nvSpPr>
          <p:cNvPr id="451" name="Google Shape;451;p18"/>
          <p:cNvSpPr txBox="1"/>
          <p:nvPr/>
        </p:nvSpPr>
        <p:spPr>
          <a:xfrm>
            <a:off x="2148840" y="289940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보내는 값은 customerId, 상품코드 productId, quantity입니다. 비회원은 로그인 화면으로 보냅니다.</a:t>
            </a:r>
            <a:endParaRPr/>
          </a:p>
        </p:txBody>
      </p:sp>
      <p:cxnSp>
        <p:nvCxnSpPr>
          <p:cNvPr id="452" name="Google Shape;452;p18"/>
          <p:cNvCxnSpPr/>
          <p:nvPr/>
        </p:nvCxnSpPr>
        <p:spPr>
          <a:xfrm>
            <a:off x="548640" y="360426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3" name="Google Shape;453;p18"/>
          <p:cNvSpPr txBox="1"/>
          <p:nvPr/>
        </p:nvSpPr>
        <p:spPr>
          <a:xfrm>
            <a:off x="548640" y="37414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Cart 준비와 검사</a:t>
            </a:r>
            <a:endParaRPr/>
          </a:p>
        </p:txBody>
      </p:sp>
      <p:sp>
        <p:nvSpPr>
          <p:cNvPr id="454" name="Google Shape;454;p18"/>
          <p:cNvSpPr txBox="1"/>
          <p:nvPr/>
        </p:nvSpPr>
        <p:spPr>
          <a:xfrm>
            <a:off x="2148840" y="3741420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회원의 Cart가 없으면 새로 만들어 저장하고, 상품코드로 Product를 찾아 수량을 확인합니다.</a:t>
            </a:r>
            <a:endParaRPr/>
          </a:p>
        </p:txBody>
      </p:sp>
      <p:cxnSp>
        <p:nvCxnSpPr>
          <p:cNvPr id="455" name="Google Shape;455;p18"/>
          <p:cNvCxnSpPr/>
          <p:nvPr/>
        </p:nvCxnSpPr>
        <p:spPr>
          <a:xfrm>
            <a:off x="548640" y="444627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6" name="Google Shape;456;p18"/>
          <p:cNvSpPr txBox="1"/>
          <p:nvPr/>
        </p:nvSpPr>
        <p:spPr>
          <a:xfrm>
            <a:off x="548640" y="458343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같은 상품이면 합산</a:t>
            </a:r>
            <a:endParaRPr/>
          </a:p>
        </p:txBody>
      </p:sp>
      <p:sp>
        <p:nvSpPr>
          <p:cNvPr id="457" name="Google Shape;457;p18"/>
          <p:cNvSpPr txBox="1"/>
          <p:nvPr/>
        </p:nvSpPr>
        <p:spPr>
          <a:xfrm>
            <a:off x="2148840" y="4583430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이미 담긴 상품은 기존 수량에 더하고, 합친 수량도 재고를 넘지 않는지 확인합니다.</a:t>
            </a:r>
            <a:endParaRPr/>
          </a:p>
        </p:txBody>
      </p:sp>
      <p:cxnSp>
        <p:nvCxnSpPr>
          <p:cNvPr id="458" name="Google Shape;458;p18"/>
          <p:cNvCxnSpPr/>
          <p:nvPr/>
        </p:nvCxnSpPr>
        <p:spPr>
          <a:xfrm>
            <a:off x="548640" y="528828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9" name="Google Shape;459;p18"/>
          <p:cNvSpPr txBox="1"/>
          <p:nvPr/>
        </p:nvSpPr>
        <p:spPr>
          <a:xfrm>
            <a:off x="548640" y="54254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합계와 배지</a:t>
            </a:r>
            <a:endParaRPr/>
          </a:p>
        </p:txBody>
      </p:sp>
      <p:sp>
        <p:nvSpPr>
          <p:cNvPr id="460" name="Google Shape;460;p18"/>
          <p:cNvSpPr txBox="1"/>
          <p:nvPr/>
        </p:nvSpPr>
        <p:spPr>
          <a:xfrm>
            <a:off x="2148840" y="5425440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updateCartTotal()이 전체 수량 / 금액을 Cart에 저장하고, 응답 숫자로 배지를 바꿉니다.</a:t>
            </a:r>
            <a:endParaRPr/>
          </a:p>
        </p:txBody>
      </p:sp>
      <p:cxnSp>
        <p:nvCxnSpPr>
          <p:cNvPr id="461" name="Google Shape;461;p18"/>
          <p:cNvCxnSpPr/>
          <p:nvPr/>
        </p:nvCxnSpPr>
        <p:spPr>
          <a:xfrm>
            <a:off x="548640" y="613029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62" name="Google Shape;462;p18"/>
          <p:cNvSpPr txBox="1"/>
          <p:nvPr/>
        </p:nvSpPr>
        <p:spPr>
          <a:xfrm>
            <a:off x="7178040" y="1920240"/>
            <a:ext cx="446501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7178040" y="2249424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8"/>
          <p:cNvSpPr txBox="1"/>
          <p:nvPr/>
        </p:nvSpPr>
        <p:spPr>
          <a:xfrm>
            <a:off x="7342631" y="224942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65" name="Google Shape;465;p18"/>
          <p:cNvSpPr txBox="1"/>
          <p:nvPr/>
        </p:nvSpPr>
        <p:spPr>
          <a:xfrm>
            <a:off x="7772400" y="2249424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fetch POST /cart/add</a:t>
            </a:r>
            <a:endParaRPr/>
          </a:p>
        </p:txBody>
      </p:sp>
      <p:cxnSp>
        <p:nvCxnSpPr>
          <p:cNvPr id="466" name="Google Shape;466;p18"/>
          <p:cNvCxnSpPr/>
          <p:nvPr/>
        </p:nvCxnSpPr>
        <p:spPr>
          <a:xfrm>
            <a:off x="7507223" y="291144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467" name="Google Shape;467;p18"/>
          <p:cNvSpPr/>
          <p:nvPr/>
        </p:nvSpPr>
        <p:spPr>
          <a:xfrm>
            <a:off x="7178040" y="3076041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8"/>
          <p:cNvSpPr txBox="1"/>
          <p:nvPr/>
        </p:nvSpPr>
        <p:spPr>
          <a:xfrm>
            <a:off x="7342631" y="3076041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69" name="Google Shape;469;p18"/>
          <p:cNvSpPr txBox="1"/>
          <p:nvPr/>
        </p:nvSpPr>
        <p:spPr>
          <a:xfrm>
            <a:off x="7772400" y="3076041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CartController.addCart()</a:t>
            </a:r>
            <a:endParaRPr/>
          </a:p>
        </p:txBody>
      </p:sp>
      <p:cxnSp>
        <p:nvCxnSpPr>
          <p:cNvPr id="470" name="Google Shape;470;p18"/>
          <p:cNvCxnSpPr/>
          <p:nvPr/>
        </p:nvCxnSpPr>
        <p:spPr>
          <a:xfrm>
            <a:off x="7507223" y="3738067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471" name="Google Shape;471;p18"/>
          <p:cNvSpPr/>
          <p:nvPr/>
        </p:nvSpPr>
        <p:spPr>
          <a:xfrm>
            <a:off x="7178040" y="3902659"/>
            <a:ext cx="4465015" cy="662025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8"/>
          <p:cNvSpPr txBox="1"/>
          <p:nvPr/>
        </p:nvSpPr>
        <p:spPr>
          <a:xfrm>
            <a:off x="7342631" y="3902659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7772400" y="3902659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CartService.addCart()</a:t>
            </a:r>
            <a:endParaRPr/>
          </a:p>
        </p:txBody>
      </p:sp>
      <p:cxnSp>
        <p:nvCxnSpPr>
          <p:cNvPr id="474" name="Google Shape;474;p18"/>
          <p:cNvCxnSpPr/>
          <p:nvPr/>
        </p:nvCxnSpPr>
        <p:spPr>
          <a:xfrm>
            <a:off x="7507223" y="4564684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475" name="Google Shape;475;p18"/>
          <p:cNvSpPr/>
          <p:nvPr/>
        </p:nvSpPr>
        <p:spPr>
          <a:xfrm>
            <a:off x="7178040" y="4729276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8"/>
          <p:cNvSpPr txBox="1"/>
          <p:nvPr/>
        </p:nvSpPr>
        <p:spPr>
          <a:xfrm>
            <a:off x="7342631" y="4729276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77" name="Google Shape;477;p18"/>
          <p:cNvSpPr txBox="1"/>
          <p:nvPr/>
        </p:nvSpPr>
        <p:spPr>
          <a:xfrm>
            <a:off x="7772400" y="4729276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Cart / CartItem / Product</a:t>
            </a:r>
            <a:endParaRPr/>
          </a:p>
        </p:txBody>
      </p:sp>
      <p:cxnSp>
        <p:nvCxnSpPr>
          <p:cNvPr id="478" name="Google Shape;478;p18"/>
          <p:cNvCxnSpPr/>
          <p:nvPr/>
        </p:nvCxnSpPr>
        <p:spPr>
          <a:xfrm>
            <a:off x="7507223" y="5391302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479" name="Google Shape;479;p18"/>
          <p:cNvSpPr/>
          <p:nvPr/>
        </p:nvSpPr>
        <p:spPr>
          <a:xfrm>
            <a:off x="7178040" y="5555894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7342631" y="555589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7772400" y="5555894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Entity → DB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Cart / CartItem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9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ADD TO CART CODE</a:t>
            </a:r>
            <a:endParaRPr/>
          </a:p>
        </p:txBody>
      </p:sp>
      <p:sp>
        <p:nvSpPr>
          <p:cNvPr id="487" name="Google Shape;487;p19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추가 코드 ① View / Controller</a:t>
            </a:r>
            <a:endParaRPr/>
          </a:p>
        </p:txBody>
      </p:sp>
      <p:sp>
        <p:nvSpPr>
          <p:cNvPr id="488" name="Google Shape;488;p19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숨은 값으로 상품코드와 수량을 보내고 Controller는 Service에 넘긴 뒤 배지 숫자를 돌려줍니다.</a:t>
            </a:r>
            <a:endParaRPr/>
          </a:p>
        </p:txBody>
      </p:sp>
      <p:sp>
        <p:nvSpPr>
          <p:cNvPr id="489" name="Google Shape;489;p19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490" name="Google Shape;490;p19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7726679" y="2249424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9"/>
          <p:cNvSpPr txBox="1"/>
          <p:nvPr/>
        </p:nvSpPr>
        <p:spPr>
          <a:xfrm>
            <a:off x="789127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95" name="Google Shape;495;p19"/>
          <p:cNvSpPr txBox="1"/>
          <p:nvPr/>
        </p:nvSpPr>
        <p:spPr>
          <a:xfrm>
            <a:off x="8321040" y="2249424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폼 값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productId(상품코드) / customerId / quantity</a:t>
            </a:r>
            <a:endParaRPr/>
          </a:p>
        </p:txBody>
      </p:sp>
      <p:cxnSp>
        <p:nvCxnSpPr>
          <p:cNvPr id="496" name="Google Shape;496;p19"/>
          <p:cNvCxnSpPr/>
          <p:nvPr/>
        </p:nvCxnSpPr>
        <p:spPr>
          <a:xfrm>
            <a:off x="805586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497" name="Google Shape;497;p19"/>
          <p:cNvSpPr/>
          <p:nvPr/>
        </p:nvSpPr>
        <p:spPr>
          <a:xfrm>
            <a:off x="7726679" y="3181350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9"/>
          <p:cNvSpPr txBox="1"/>
          <p:nvPr/>
        </p:nvSpPr>
        <p:spPr>
          <a:xfrm>
            <a:off x="789127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8321040" y="3181350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fetch(form.action) / POST</a:t>
            </a:r>
            <a:endParaRPr/>
          </a:p>
        </p:txBody>
      </p:sp>
      <p:cxnSp>
        <p:nvCxnSpPr>
          <p:cNvPr id="500" name="Google Shape;500;p19"/>
          <p:cNvCxnSpPr/>
          <p:nvPr/>
        </p:nvCxnSpPr>
        <p:spPr>
          <a:xfrm>
            <a:off x="805586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501" name="Google Shape;501;p19"/>
          <p:cNvSpPr/>
          <p:nvPr/>
        </p:nvSpPr>
        <p:spPr>
          <a:xfrm>
            <a:off x="7726679" y="4113275"/>
            <a:ext cx="391637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 txBox="1"/>
          <p:nvPr/>
        </p:nvSpPr>
        <p:spPr>
          <a:xfrm>
            <a:off x="789127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03" name="Google Shape;503;p19"/>
          <p:cNvSpPr txBox="1"/>
          <p:nvPr/>
        </p:nvSpPr>
        <p:spPr>
          <a:xfrm>
            <a:off x="8321040" y="4113275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cartService.addCart(...)</a:t>
            </a:r>
            <a:endParaRPr/>
          </a:p>
        </p:txBody>
      </p:sp>
      <p:cxnSp>
        <p:nvCxnSpPr>
          <p:cNvPr id="504" name="Google Shape;504;p19"/>
          <p:cNvCxnSpPr/>
          <p:nvPr/>
        </p:nvCxnSpPr>
        <p:spPr>
          <a:xfrm>
            <a:off x="805586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505" name="Google Shape;505;p19"/>
          <p:cNvSpPr/>
          <p:nvPr/>
        </p:nvSpPr>
        <p:spPr>
          <a:xfrm>
            <a:off x="7726679" y="5045202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 txBox="1"/>
          <p:nvPr/>
        </p:nvSpPr>
        <p:spPr>
          <a:xfrm>
            <a:off x="789127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07" name="Google Shape;507;p19"/>
          <p:cNvSpPr txBox="1"/>
          <p:nvPr/>
        </p:nvSpPr>
        <p:spPr>
          <a:xfrm>
            <a:off x="8321040" y="5045202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응답 → 배지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getCartProductTypeCount()</a:t>
            </a:r>
            <a:endParaRPr/>
          </a:p>
        </p:txBody>
      </p:sp>
      <p:sp>
        <p:nvSpPr>
          <p:cNvPr id="508" name="Google Shape;508;p19"/>
          <p:cNvSpPr/>
          <p:nvPr/>
        </p:nvSpPr>
        <p:spPr>
          <a:xfrm>
            <a:off x="548640" y="1920240"/>
            <a:ext cx="6903720" cy="429107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749808" y="2066544"/>
            <a:ext cx="6583680" cy="407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product.html / 장바구니 폼의 hidden 값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87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&lt;input type="hidden" name="productId" th:value="${product.productId}"&gt;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&lt;input type="hidden" name="customerId" th:value="${#authentication.name}"&gt;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89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&lt;input type="hidden" name="quantity" id="cartQuantity" value="1"&gt;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product.html &lt;script&gt; / addToCart()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457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fetch(form.action,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458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method: 'POST',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459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body: new URLSearchParams(formData)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460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응답 확인 후 JSON 변환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467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.then(cartCount =&gt;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468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document.querySelectorAll(".cart-count").forEach(badge =&gt;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469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badge.textContent = cartCount;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470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});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471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오류 처리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CartController.java / addCart()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23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@PostMapping("/add")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24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@ResponseBody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25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long addCart(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26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@RequestParam("customerId") String customerId,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27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@RequestParam("productId") String productId,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@RequestParam(name = "quantity", defaultValue = "1") int quantity)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30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cartService.addCart(customerId, productId, quantity);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32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return cartService.getCartProductTypeCount(customerId);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33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ADD TO CART CODE</a:t>
            </a:r>
            <a:endParaRPr/>
          </a:p>
        </p:txBody>
      </p:sp>
      <p:sp>
        <p:nvSpPr>
          <p:cNvPr id="515" name="Google Shape;515;p20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추가 코드 ② Service</a:t>
            </a:r>
            <a:endParaRPr/>
          </a:p>
        </p:txBody>
      </p:sp>
      <p:sp>
        <p:nvSpPr>
          <p:cNvPr id="516" name="Google Shape;516;p20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Cart를 준비하고 재고를 확인한 뒤 새 항목은 저장하고 같은 상품은 수량을 합쳐 저장합니다.</a:t>
            </a:r>
            <a:endParaRPr/>
          </a:p>
        </p:txBody>
      </p:sp>
      <p:sp>
        <p:nvSpPr>
          <p:cNvPr id="517" name="Google Shape;517;p20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519" name="Google Shape;519;p20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20" name="Google Shape;520;p20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7726679" y="2249424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0"/>
          <p:cNvSpPr txBox="1"/>
          <p:nvPr/>
        </p:nvSpPr>
        <p:spPr>
          <a:xfrm>
            <a:off x="7891271" y="224942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23" name="Google Shape;523;p20"/>
          <p:cNvSpPr txBox="1"/>
          <p:nvPr/>
        </p:nvSpPr>
        <p:spPr>
          <a:xfrm>
            <a:off x="8321040" y="2249424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Cart 준비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findByCustomerId() → 없으면 save(cart)</a:t>
            </a:r>
            <a:endParaRPr/>
          </a:p>
        </p:txBody>
      </p:sp>
      <p:cxnSp>
        <p:nvCxnSpPr>
          <p:cNvPr id="524" name="Google Shape;524;p20"/>
          <p:cNvCxnSpPr/>
          <p:nvPr/>
        </p:nvCxnSpPr>
        <p:spPr>
          <a:xfrm>
            <a:off x="8055863" y="291144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525" name="Google Shape;525;p20"/>
          <p:cNvSpPr/>
          <p:nvPr/>
        </p:nvSpPr>
        <p:spPr>
          <a:xfrm>
            <a:off x="7726679" y="3076041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0"/>
          <p:cNvSpPr txBox="1"/>
          <p:nvPr/>
        </p:nvSpPr>
        <p:spPr>
          <a:xfrm>
            <a:off x="7891271" y="3076041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27" name="Google Shape;527;p20"/>
          <p:cNvSpPr txBox="1"/>
          <p:nvPr/>
        </p:nvSpPr>
        <p:spPr>
          <a:xfrm>
            <a:off x="8321040" y="3076041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재고 확인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quantity &gt; product.getStock()</a:t>
            </a:r>
            <a:endParaRPr/>
          </a:p>
        </p:txBody>
      </p:sp>
      <p:cxnSp>
        <p:nvCxnSpPr>
          <p:cNvPr id="528" name="Google Shape;528;p20"/>
          <p:cNvCxnSpPr/>
          <p:nvPr/>
        </p:nvCxnSpPr>
        <p:spPr>
          <a:xfrm>
            <a:off x="8055863" y="3738067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529" name="Google Shape;529;p20"/>
          <p:cNvSpPr/>
          <p:nvPr/>
        </p:nvSpPr>
        <p:spPr>
          <a:xfrm>
            <a:off x="7726679" y="3902659"/>
            <a:ext cx="3916375" cy="662025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0"/>
          <p:cNvSpPr txBox="1"/>
          <p:nvPr/>
        </p:nvSpPr>
        <p:spPr>
          <a:xfrm>
            <a:off x="7891271" y="3902659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31" name="Google Shape;531;p20"/>
          <p:cNvSpPr txBox="1"/>
          <p:nvPr/>
        </p:nvSpPr>
        <p:spPr>
          <a:xfrm>
            <a:off x="8321040" y="3902659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새 상품 / 같은 상품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save(cartItem) / 수량 합산 후 save</a:t>
            </a:r>
            <a:endParaRPr/>
          </a:p>
        </p:txBody>
      </p:sp>
      <p:cxnSp>
        <p:nvCxnSpPr>
          <p:cNvPr id="532" name="Google Shape;532;p20"/>
          <p:cNvCxnSpPr/>
          <p:nvPr/>
        </p:nvCxnSpPr>
        <p:spPr>
          <a:xfrm>
            <a:off x="8055863" y="4564684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533" name="Google Shape;533;p20"/>
          <p:cNvSpPr/>
          <p:nvPr/>
        </p:nvSpPr>
        <p:spPr>
          <a:xfrm>
            <a:off x="7726679" y="4729276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0"/>
          <p:cNvSpPr txBox="1"/>
          <p:nvPr/>
        </p:nvSpPr>
        <p:spPr>
          <a:xfrm>
            <a:off x="7891271" y="4729276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35" name="Google Shape;535;p20"/>
          <p:cNvSpPr txBox="1"/>
          <p:nvPr/>
        </p:nvSpPr>
        <p:spPr>
          <a:xfrm>
            <a:off x="8321040" y="4729276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합계 갱신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flush() → updateCartTotal(cart)</a:t>
            </a:r>
            <a:endParaRPr/>
          </a:p>
        </p:txBody>
      </p:sp>
      <p:cxnSp>
        <p:nvCxnSpPr>
          <p:cNvPr id="536" name="Google Shape;536;p20"/>
          <p:cNvCxnSpPr/>
          <p:nvPr/>
        </p:nvCxnSpPr>
        <p:spPr>
          <a:xfrm>
            <a:off x="8055863" y="5391302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537" name="Google Shape;537;p20"/>
          <p:cNvSpPr/>
          <p:nvPr/>
        </p:nvSpPr>
        <p:spPr>
          <a:xfrm>
            <a:off x="7726679" y="5555894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0"/>
          <p:cNvSpPr txBox="1"/>
          <p:nvPr/>
        </p:nvSpPr>
        <p:spPr>
          <a:xfrm>
            <a:off x="7891271" y="555589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539" name="Google Shape;539;p20"/>
          <p:cNvSpPr txBox="1"/>
          <p:nvPr/>
        </p:nvSpPr>
        <p:spPr>
          <a:xfrm>
            <a:off x="8321040" y="5555894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CartItem → Cart / Product (@ManyToOne)</a:t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548640" y="1920240"/>
            <a:ext cx="6903720" cy="423265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 txBox="1"/>
          <p:nvPr/>
        </p:nvSpPr>
        <p:spPr>
          <a:xfrm>
            <a:off x="749808" y="2066544"/>
            <a:ext cx="6583680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CartService.java / addCart()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26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void addCart(String customerId, String productId, int quantity)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29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Cart cart = cartRepository.findByCustomerId(customerId)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.orElse(null);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33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if (cart == null)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새 Cart 생성 (customerId / 등록일)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39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cart = cartRepository.save(cart);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상품 조회 / 수량 검사 (1개 이상, 재고 이하)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60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List&lt;CartItem&gt; sameItems = cartItemRepository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.findByCart_CartIdAndProduct_ProductIdOrderByIdAsc(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61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cart.getCartId(),productId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62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64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if (sameItems.isEmpty())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새 CartItem 값 설정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74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cartItemRepository.save(cartItem);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75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CartItem cartItem = sameItems.get(0);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기존 수량 합산 / 합친 수량 재고 검사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93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cartItem.setQuantity(totalQuantity);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94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cartItem.setTotalPrice(product.getPrice() * totalQuantity);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96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cartItemRepository.save(cartItem);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중복 생성된 나머지 행 삭제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102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104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cartItemRepository.flush();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107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updateCartTotal(cart);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CART</a:t>
            </a:r>
            <a:endParaRPr/>
          </a:p>
        </p:txBody>
      </p:sp>
      <p:sp>
        <p:nvSpPr>
          <p:cNvPr id="547" name="Google Shape;547;p21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화면</a:t>
            </a:r>
            <a:endParaRPr/>
          </a:p>
        </p:txBody>
      </p:sp>
      <p:sp>
        <p:nvSpPr>
          <p:cNvPr id="548" name="Google Shape;548;p21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549" name="Google Shape;549;p21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550" name="Google Shape;550;p21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pic>
        <p:nvPicPr>
          <p:cNvPr id="551" name="Google Shape;551;p21" descr="장바구니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8960" y="411480"/>
            <a:ext cx="8327661" cy="5713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SHOP  /  CART</a:t>
            </a:r>
            <a:endParaRPr/>
          </a:p>
        </p:txBody>
      </p:sp>
      <p:sp>
        <p:nvSpPr>
          <p:cNvPr id="557" name="Google Shape;557;p2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이용</a:t>
            </a:r>
            <a:endParaRPr/>
          </a:p>
        </p:txBody>
      </p:sp>
      <p:sp>
        <p:nvSpPr>
          <p:cNvPr id="558" name="Google Shape;558;p22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담은 상품의 수량을 바꾸거나 지우고 고른 상품만 주문서로 넘길 수 있습니다.</a:t>
            </a:r>
            <a:endParaRPr/>
          </a:p>
        </p:txBody>
      </p:sp>
      <p:sp>
        <p:nvSpPr>
          <p:cNvPr id="559" name="Google Shape;559;p22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560" name="Google Shape;560;p22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SHOP</a:t>
            </a:r>
            <a:endParaRPr/>
          </a:p>
        </p:txBody>
      </p:sp>
      <p:sp>
        <p:nvSpPr>
          <p:cNvPr id="561" name="Google Shape;561;p22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cxnSp>
        <p:nvCxnSpPr>
          <p:cNvPr id="562" name="Google Shape;562;p22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63" name="Google Shape;563;p22"/>
          <p:cNvSpPr txBox="1"/>
          <p:nvPr/>
        </p:nvSpPr>
        <p:spPr>
          <a:xfrm>
            <a:off x="548640" y="20574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조회</a:t>
            </a:r>
            <a:endParaRPr/>
          </a:p>
        </p:txBody>
      </p:sp>
      <p:sp>
        <p:nvSpPr>
          <p:cNvPr id="564" name="Google Shape;564;p22"/>
          <p:cNvSpPr txBox="1"/>
          <p:nvPr/>
        </p:nvSpPr>
        <p:spPr>
          <a:xfrm>
            <a:off x="2377440" y="205740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/cart/read/{customerId}. 최근에 담은 상품부터 상품별 금액과 전체 금액을 보여줍니다.</a:t>
            </a:r>
            <a:endParaRPr/>
          </a:p>
        </p:txBody>
      </p:sp>
      <p:cxnSp>
        <p:nvCxnSpPr>
          <p:cNvPr id="565" name="Google Shape;565;p22"/>
          <p:cNvCxnSpPr/>
          <p:nvPr/>
        </p:nvCxnSpPr>
        <p:spPr>
          <a:xfrm>
            <a:off x="548640" y="265176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66" name="Google Shape;566;p22"/>
          <p:cNvSpPr txBox="1"/>
          <p:nvPr/>
        </p:nvSpPr>
        <p:spPr>
          <a:xfrm>
            <a:off x="548640" y="27889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수량 변경</a:t>
            </a:r>
            <a:endParaRPr/>
          </a:p>
        </p:txBody>
      </p:sp>
      <p:sp>
        <p:nvSpPr>
          <p:cNvPr id="567" name="Google Shape;567;p22"/>
          <p:cNvSpPr txBox="1"/>
          <p:nvPr/>
        </p:nvSpPr>
        <p:spPr>
          <a:xfrm>
            <a:off x="2377440" y="2788920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cart.js가 재고를 먼저 보고 PUT 요청을 보냅니다. 서버는 1개 이상 / 재고 이하 / 본인 항목인지 확인하고 합계를 다시 계산합니다.</a:t>
            </a:r>
            <a:endParaRPr/>
          </a:p>
        </p:txBody>
      </p:sp>
      <p:cxnSp>
        <p:nvCxnSpPr>
          <p:cNvPr id="568" name="Google Shape;568;p22"/>
          <p:cNvCxnSpPr/>
          <p:nvPr/>
        </p:nvCxnSpPr>
        <p:spPr>
          <a:xfrm>
            <a:off x="548640" y="352882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69" name="Google Shape;569;p22"/>
          <p:cNvSpPr txBox="1"/>
          <p:nvPr/>
        </p:nvSpPr>
        <p:spPr>
          <a:xfrm>
            <a:off x="548640" y="366598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삭제</a:t>
            </a:r>
            <a:endParaRPr/>
          </a:p>
        </p:txBody>
      </p:sp>
      <p:sp>
        <p:nvSpPr>
          <p:cNvPr id="570" name="Google Shape;570;p22"/>
          <p:cNvSpPr txBox="1"/>
          <p:nvPr/>
        </p:nvSpPr>
        <p:spPr>
          <a:xfrm>
            <a:off x="2377440" y="3665982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개별 / 선택 / 전체 삭제를 DELETE로 처리하고, 마지막 상품을 지우면 Cart도 지웁니다.</a:t>
            </a:r>
            <a:endParaRPr/>
          </a:p>
        </p:txBody>
      </p:sp>
      <p:cxnSp>
        <p:nvCxnSpPr>
          <p:cNvPr id="571" name="Google Shape;571;p22"/>
          <p:cNvCxnSpPr/>
          <p:nvPr/>
        </p:nvCxnSpPr>
        <p:spPr>
          <a:xfrm>
            <a:off x="548640" y="426034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72" name="Google Shape;572;p22"/>
          <p:cNvSpPr txBox="1"/>
          <p:nvPr/>
        </p:nvSpPr>
        <p:spPr>
          <a:xfrm>
            <a:off x="548640" y="439750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주문서로 이동</a:t>
            </a:r>
            <a:endParaRPr/>
          </a:p>
        </p:txBody>
      </p:sp>
      <p:sp>
        <p:nvSpPr>
          <p:cNvPr id="573" name="Google Shape;573;p22"/>
          <p:cNvSpPr txBox="1"/>
          <p:nvPr/>
        </p:nvSpPr>
        <p:spPr>
          <a:xfrm>
            <a:off x="2377440" y="4397502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선택 / 전체 주문은 cartItemIds를 POST /order/sheet로 보냅니다. 그 전에 재고를 한 번 더 확인합니다.</a:t>
            </a:r>
            <a:endParaRPr/>
          </a:p>
        </p:txBody>
      </p:sp>
      <p:cxnSp>
        <p:nvCxnSpPr>
          <p:cNvPr id="574" name="Google Shape;574;p22"/>
          <p:cNvCxnSpPr/>
          <p:nvPr/>
        </p:nvCxnSpPr>
        <p:spPr>
          <a:xfrm>
            <a:off x="548640" y="499186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75" name="Google Shape;575;p22"/>
          <p:cNvSpPr txBox="1"/>
          <p:nvPr/>
        </p:nvSpPr>
        <p:spPr>
          <a:xfrm>
            <a:off x="548640" y="512902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헤더 배지</a:t>
            </a:r>
            <a:endParaRPr/>
          </a:p>
        </p:txBody>
      </p:sp>
      <p:sp>
        <p:nvSpPr>
          <p:cNvPr id="576" name="Google Shape;576;p22"/>
          <p:cNvSpPr txBox="1"/>
          <p:nvPr/>
        </p:nvSpPr>
        <p:spPr>
          <a:xfrm>
            <a:off x="2377440" y="5129022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GlobalControllerAdvice가 cartCount를 넘기며, 값은 count(distinct ci.product.name), 즉 담긴 상품 이름의 종류 수입니다.</a:t>
            </a:r>
            <a:endParaRPr/>
          </a:p>
        </p:txBody>
      </p:sp>
      <p:cxnSp>
        <p:nvCxnSpPr>
          <p:cNvPr id="577" name="Google Shape;577;p22"/>
          <p:cNvCxnSpPr/>
          <p:nvPr/>
        </p:nvCxnSpPr>
        <p:spPr>
          <a:xfrm>
            <a:off x="548640" y="586892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3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1000"/>
              <a:buNone/>
            </a:pPr>
            <a:r>
              <a:rPr lang="en-US" sz="1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83" name="Google Shape;583;p23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</a:pPr>
            <a:r>
              <a:rPr lang="en-US" sz="40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584" name="Google Shape;584;p23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400"/>
              <a:buNone/>
            </a:pPr>
            <a:r>
              <a:rPr lang="en-US" sz="14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주문서를 작성해 주문을 만들고, 주문 내역에서 배송 상태를 확인하는 과정입니다.</a:t>
            </a:r>
            <a:endParaRPr/>
          </a:p>
        </p:txBody>
      </p:sp>
      <p:sp>
        <p:nvSpPr>
          <p:cNvPr id="585" name="Google Shape;585;p23"/>
          <p:cNvSpPr txBox="1"/>
          <p:nvPr/>
        </p:nvSpPr>
        <p:spPr>
          <a:xfrm>
            <a:off x="2743200" y="3913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</a:t>
            </a:r>
            <a:endParaRPr/>
          </a:p>
        </p:txBody>
      </p:sp>
      <p:sp>
        <p:nvSpPr>
          <p:cNvPr id="586" name="Google Shape;586;p23"/>
          <p:cNvSpPr txBox="1"/>
          <p:nvPr/>
        </p:nvSpPr>
        <p:spPr>
          <a:xfrm>
            <a:off x="7086600" y="3767328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IN THIS SECTION</a:t>
            </a:r>
            <a:endParaRPr/>
          </a:p>
        </p:txBody>
      </p:sp>
      <p:cxnSp>
        <p:nvCxnSpPr>
          <p:cNvPr id="587" name="Google Shape;587;p23"/>
          <p:cNvCxnSpPr/>
          <p:nvPr/>
        </p:nvCxnSpPr>
        <p:spPr>
          <a:xfrm>
            <a:off x="7086600" y="4041648"/>
            <a:ext cx="4553712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88" name="Google Shape;588;p23"/>
          <p:cNvSpPr txBox="1"/>
          <p:nvPr/>
        </p:nvSpPr>
        <p:spPr>
          <a:xfrm>
            <a:off x="7086600" y="40416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생성</a:t>
            </a:r>
            <a:endParaRPr/>
          </a:p>
        </p:txBody>
      </p:sp>
      <p:sp>
        <p:nvSpPr>
          <p:cNvPr id="589" name="Google Shape;589;p23"/>
          <p:cNvSpPr txBox="1"/>
          <p:nvPr/>
        </p:nvSpPr>
        <p:spPr>
          <a:xfrm>
            <a:off x="9592056" y="404164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 PROCESS</a:t>
            </a:r>
            <a:endParaRPr/>
          </a:p>
        </p:txBody>
      </p:sp>
      <p:cxnSp>
        <p:nvCxnSpPr>
          <p:cNvPr id="590" name="Google Shape;590;p23"/>
          <p:cNvCxnSpPr/>
          <p:nvPr/>
        </p:nvCxnSpPr>
        <p:spPr>
          <a:xfrm>
            <a:off x="7086600" y="4389120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1" name="Google Shape;591;p23"/>
          <p:cNvSpPr txBox="1"/>
          <p:nvPr/>
        </p:nvSpPr>
        <p:spPr>
          <a:xfrm>
            <a:off x="7086600" y="43891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Entity</a:t>
            </a:r>
            <a:endParaRPr/>
          </a:p>
        </p:txBody>
      </p:sp>
      <p:sp>
        <p:nvSpPr>
          <p:cNvPr id="592" name="Google Shape;592;p23"/>
          <p:cNvSpPr txBox="1"/>
          <p:nvPr/>
        </p:nvSpPr>
        <p:spPr>
          <a:xfrm>
            <a:off x="9592056" y="4389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 DATA</a:t>
            </a:r>
            <a:endParaRPr/>
          </a:p>
        </p:txBody>
      </p:sp>
      <p:cxnSp>
        <p:nvCxnSpPr>
          <p:cNvPr id="593" name="Google Shape;593;p23"/>
          <p:cNvCxnSpPr/>
          <p:nvPr/>
        </p:nvCxnSpPr>
        <p:spPr>
          <a:xfrm>
            <a:off x="7086600" y="4736592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4" name="Google Shape;594;p23"/>
          <p:cNvSpPr txBox="1"/>
          <p:nvPr/>
        </p:nvSpPr>
        <p:spPr>
          <a:xfrm>
            <a:off x="7086600" y="47365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내역</a:t>
            </a:r>
            <a:endParaRPr/>
          </a:p>
        </p:txBody>
      </p:sp>
      <p:sp>
        <p:nvSpPr>
          <p:cNvPr id="595" name="Google Shape;595;p23"/>
          <p:cNvSpPr txBox="1"/>
          <p:nvPr/>
        </p:nvSpPr>
        <p:spPr>
          <a:xfrm>
            <a:off x="9592056" y="473659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 HISTORY</a:t>
            </a:r>
            <a:endParaRPr/>
          </a:p>
        </p:txBody>
      </p:sp>
      <p:cxnSp>
        <p:nvCxnSpPr>
          <p:cNvPr id="596" name="Google Shape;596;p23"/>
          <p:cNvCxnSpPr/>
          <p:nvPr/>
        </p:nvCxnSpPr>
        <p:spPr>
          <a:xfrm>
            <a:off x="7086600" y="5084064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97" name="Google Shape;597;p23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598" name="Google Shape;598;p23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599" name="Google Shape;599;p23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PROCESS</a:t>
            </a:r>
            <a:endParaRPr/>
          </a:p>
        </p:txBody>
      </p:sp>
      <p:sp>
        <p:nvSpPr>
          <p:cNvPr id="605" name="Google Shape;605;p2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주문서 화면</a:t>
            </a:r>
            <a:endParaRPr/>
          </a:p>
        </p:txBody>
      </p:sp>
      <p:sp>
        <p:nvSpPr>
          <p:cNvPr id="606" name="Google Shape;606;p24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607" name="Google Shape;607;p24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608" name="Google Shape;608;p24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pic>
        <p:nvPicPr>
          <p:cNvPr id="609" name="Google Shape;609;p24" descr="주문서 화면"/>
          <p:cNvPicPr preferRelativeResize="0"/>
          <p:nvPr/>
        </p:nvPicPr>
        <p:blipFill rotWithShape="1">
          <a:blip r:embed="rId3">
            <a:alphaModFix/>
          </a:blip>
          <a:srcRect t="5882" b="24044"/>
          <a:stretch/>
        </p:blipFill>
        <p:spPr>
          <a:xfrm>
            <a:off x="1663785" y="1315719"/>
            <a:ext cx="8864124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5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PROCESS</a:t>
            </a:r>
            <a:endParaRPr/>
          </a:p>
        </p:txBody>
      </p:sp>
      <p:sp>
        <p:nvSpPr>
          <p:cNvPr id="615" name="Google Shape;615;p25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생성</a:t>
            </a:r>
            <a:endParaRPr/>
          </a:p>
        </p:txBody>
      </p:sp>
      <p:sp>
        <p:nvSpPr>
          <p:cNvPr id="616" name="Google Shape;616;p25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바로구매와 장바구니 주문 모두 같은 orderForm.html을 쓰고 orderType으로 구분합니다.</a:t>
            </a:r>
            <a:endParaRPr/>
          </a:p>
        </p:txBody>
      </p:sp>
      <p:sp>
        <p:nvSpPr>
          <p:cNvPr id="617" name="Google Shape;617;p25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618" name="Google Shape;618;p25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619" name="Google Shape;619;p25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cxnSp>
        <p:nvCxnSpPr>
          <p:cNvPr id="620" name="Google Shape;620;p25"/>
          <p:cNvCxnSpPr/>
          <p:nvPr/>
        </p:nvCxnSpPr>
        <p:spPr>
          <a:xfrm>
            <a:off x="548640" y="225044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1" name="Google Shape;621;p25"/>
          <p:cNvSpPr txBox="1"/>
          <p:nvPr/>
        </p:nvSpPr>
        <p:spPr>
          <a:xfrm>
            <a:off x="548640" y="238760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주문서 열기</a:t>
            </a:r>
            <a:endParaRPr/>
          </a:p>
        </p:txBody>
      </p:sp>
      <p:sp>
        <p:nvSpPr>
          <p:cNvPr id="622" name="Google Shape;622;p25"/>
          <p:cNvSpPr txBox="1"/>
          <p:nvPr/>
        </p:nvSpPr>
        <p:spPr>
          <a:xfrm>
            <a:off x="2377440" y="2387602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바로구매는 GET /order(DIRECT), 장바구니는 POST /order/sheet(CART). 배송지는 회원 정보로 채워 둡니다.</a:t>
            </a:r>
            <a:endParaRPr/>
          </a:p>
        </p:txBody>
      </p:sp>
      <p:cxnSp>
        <p:nvCxnSpPr>
          <p:cNvPr id="623" name="Google Shape;623;p25"/>
          <p:cNvCxnSpPr/>
          <p:nvPr/>
        </p:nvCxnSpPr>
        <p:spPr>
          <a:xfrm>
            <a:off x="548640" y="298196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4" name="Google Shape;624;p25"/>
          <p:cNvSpPr txBox="1"/>
          <p:nvPr/>
        </p:nvSpPr>
        <p:spPr>
          <a:xfrm>
            <a:off x="548640" y="311912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요청</a:t>
            </a:r>
            <a:endParaRPr/>
          </a:p>
        </p:txBody>
      </p:sp>
      <p:sp>
        <p:nvSpPr>
          <p:cNvPr id="625" name="Google Shape;625;p25"/>
          <p:cNvSpPr txBox="1"/>
          <p:nvPr/>
        </p:nvSpPr>
        <p:spPr>
          <a:xfrm>
            <a:off x="2377440" y="3119122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'결제 및 주문완료하기' → POST /order/process. orderType, 상품 정보 또는 cartItemIds, 수령인 / 주소를 보냅니다.</a:t>
            </a:r>
            <a:endParaRPr/>
          </a:p>
        </p:txBody>
      </p:sp>
      <p:cxnSp>
        <p:nvCxnSpPr>
          <p:cNvPr id="626" name="Google Shape;626;p25"/>
          <p:cNvCxnSpPr/>
          <p:nvPr/>
        </p:nvCxnSpPr>
        <p:spPr>
          <a:xfrm>
            <a:off x="548640" y="385902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7" name="Google Shape;627;p25"/>
          <p:cNvSpPr txBox="1"/>
          <p:nvPr/>
        </p:nvSpPr>
        <p:spPr>
          <a:xfrm>
            <a:off x="548640" y="3996184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만들기</a:t>
            </a:r>
            <a:endParaRPr/>
          </a:p>
        </p:txBody>
      </p:sp>
      <p:sp>
        <p:nvSpPr>
          <p:cNvPr id="628" name="Google Shape;628;p25"/>
          <p:cNvSpPr txBox="1"/>
          <p:nvPr/>
        </p:nvSpPr>
        <p:spPr>
          <a:xfrm>
            <a:off x="2377440" y="3996184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processOrder()가 order() 또는 orderFromCart()를 호출합니다. 주문 당시 회원 정보를 복사하고 재고를 확인 / 차감한 뒤 save(order)합니다.</a:t>
            </a:r>
            <a:endParaRPr/>
          </a:p>
        </p:txBody>
      </p:sp>
      <p:cxnSp>
        <p:nvCxnSpPr>
          <p:cNvPr id="629" name="Google Shape;629;p25"/>
          <p:cNvCxnSpPr/>
          <p:nvPr/>
        </p:nvCxnSpPr>
        <p:spPr>
          <a:xfrm>
            <a:off x="548640" y="473608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30" name="Google Shape;630;p25"/>
          <p:cNvSpPr txBox="1"/>
          <p:nvPr/>
        </p:nvSpPr>
        <p:spPr>
          <a:xfrm>
            <a:off x="548640" y="4873246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/>
          </a:p>
        </p:txBody>
      </p:sp>
      <p:sp>
        <p:nvSpPr>
          <p:cNvPr id="631" name="Google Shape;631;p25"/>
          <p:cNvSpPr txBox="1"/>
          <p:nvPr/>
        </p:nvSpPr>
        <p:spPr>
          <a:xfrm>
            <a:off x="2377440" y="4873246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장바구니 주문은 주문한 CartItem만 지웁니다. 완료하면 주문 내역으로 이동합니다.</a:t>
            </a:r>
            <a:endParaRPr/>
          </a:p>
        </p:txBody>
      </p:sp>
      <p:cxnSp>
        <p:nvCxnSpPr>
          <p:cNvPr id="632" name="Google Shape;632;p25"/>
          <p:cNvCxnSpPr/>
          <p:nvPr/>
        </p:nvCxnSpPr>
        <p:spPr>
          <a:xfrm>
            <a:off x="548640" y="546760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CODE</a:t>
            </a:r>
            <a:endParaRPr/>
          </a:p>
        </p:txBody>
      </p:sp>
      <p:sp>
        <p:nvSpPr>
          <p:cNvPr id="638" name="Google Shape;638;p2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생성 코드 ① View / Controller</a:t>
            </a:r>
            <a:endParaRPr/>
          </a:p>
        </p:txBody>
      </p:sp>
      <p:sp>
        <p:nvSpPr>
          <p:cNvPr id="639" name="Google Shape;639;p26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주문서는 orderType과 주문 대상 값을 숨은 값으로 보내고 Controller는 주문 종류에 따라 Service를 나눠 호출합니다.</a:t>
            </a:r>
            <a:endParaRPr/>
          </a:p>
        </p:txBody>
      </p:sp>
      <p:sp>
        <p:nvSpPr>
          <p:cNvPr id="640" name="Google Shape;640;p26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641" name="Google Shape;641;p26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642" name="Google Shape;642;p26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643" name="Google Shape;643;p26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644" name="Google Shape;644;p26"/>
          <p:cNvSpPr/>
          <p:nvPr/>
        </p:nvSpPr>
        <p:spPr>
          <a:xfrm>
            <a:off x="7726679" y="2249424"/>
            <a:ext cx="391637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6"/>
          <p:cNvSpPr txBox="1"/>
          <p:nvPr/>
        </p:nvSpPr>
        <p:spPr>
          <a:xfrm>
            <a:off x="789127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46" name="Google Shape;646;p26"/>
          <p:cNvSpPr txBox="1"/>
          <p:nvPr/>
        </p:nvSpPr>
        <p:spPr>
          <a:xfrm>
            <a:off x="8321040" y="2249424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POST /order/process / orderType</a:t>
            </a:r>
            <a:endParaRPr/>
          </a:p>
        </p:txBody>
      </p:sp>
      <p:cxnSp>
        <p:nvCxnSpPr>
          <p:cNvPr id="647" name="Google Shape;647;p26"/>
          <p:cNvCxnSpPr/>
          <p:nvPr/>
        </p:nvCxnSpPr>
        <p:spPr>
          <a:xfrm>
            <a:off x="805586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48" name="Google Shape;648;p26"/>
          <p:cNvSpPr/>
          <p:nvPr/>
        </p:nvSpPr>
        <p:spPr>
          <a:xfrm>
            <a:off x="7726679" y="3181350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6"/>
          <p:cNvSpPr txBox="1"/>
          <p:nvPr/>
        </p:nvSpPr>
        <p:spPr>
          <a:xfrm>
            <a:off x="789127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50" name="Google Shape;650;p26"/>
          <p:cNvSpPr txBox="1"/>
          <p:nvPr/>
        </p:nvSpPr>
        <p:spPr>
          <a:xfrm>
            <a:off x="8321040" y="3181350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productId / count → order()</a:t>
            </a:r>
            <a:endParaRPr/>
          </a:p>
        </p:txBody>
      </p:sp>
      <p:cxnSp>
        <p:nvCxnSpPr>
          <p:cNvPr id="651" name="Google Shape;651;p26"/>
          <p:cNvCxnSpPr/>
          <p:nvPr/>
        </p:nvCxnSpPr>
        <p:spPr>
          <a:xfrm>
            <a:off x="805586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52" name="Google Shape;652;p26"/>
          <p:cNvSpPr/>
          <p:nvPr/>
        </p:nvSpPr>
        <p:spPr>
          <a:xfrm>
            <a:off x="7726679" y="4113275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6"/>
          <p:cNvSpPr txBox="1"/>
          <p:nvPr/>
        </p:nvSpPr>
        <p:spPr>
          <a:xfrm>
            <a:off x="789127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54" name="Google Shape;654;p26"/>
          <p:cNvSpPr txBox="1"/>
          <p:nvPr/>
        </p:nvSpPr>
        <p:spPr>
          <a:xfrm>
            <a:off x="8321040" y="4113275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CART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cartItemIds → orderFromCart()</a:t>
            </a:r>
            <a:endParaRPr/>
          </a:p>
        </p:txBody>
      </p:sp>
      <p:cxnSp>
        <p:nvCxnSpPr>
          <p:cNvPr id="655" name="Google Shape;655;p26"/>
          <p:cNvCxnSpPr/>
          <p:nvPr/>
        </p:nvCxnSpPr>
        <p:spPr>
          <a:xfrm>
            <a:off x="805586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56" name="Google Shape;656;p26"/>
          <p:cNvSpPr/>
          <p:nvPr/>
        </p:nvSpPr>
        <p:spPr>
          <a:xfrm>
            <a:off x="7726679" y="5045202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6"/>
          <p:cNvSpPr txBox="1"/>
          <p:nvPr/>
        </p:nvSpPr>
        <p:spPr>
          <a:xfrm>
            <a:off x="789127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58" name="Google Shape;658;p26"/>
          <p:cNvSpPr txBox="1"/>
          <p:nvPr/>
        </p:nvSpPr>
        <p:spPr>
          <a:xfrm>
            <a:off x="8321040" y="5045202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redirect:/orders</a:t>
            </a:r>
            <a:endParaRPr/>
          </a:p>
        </p:txBody>
      </p:sp>
      <p:sp>
        <p:nvSpPr>
          <p:cNvPr id="659" name="Google Shape;659;p26"/>
          <p:cNvSpPr/>
          <p:nvPr/>
        </p:nvSpPr>
        <p:spPr>
          <a:xfrm>
            <a:off x="548640" y="1920240"/>
            <a:ext cx="6903720" cy="4265675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6"/>
          <p:cNvSpPr txBox="1"/>
          <p:nvPr/>
        </p:nvSpPr>
        <p:spPr>
          <a:xfrm>
            <a:off x="749808" y="2066544"/>
            <a:ext cx="6583680" cy="404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orderForm.html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15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&lt;form th:action="@{/order/process}" method="post"&gt;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17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&lt;input type="hidden" name="orderType" th:value="${orderType}"&gt;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&lt;!-- ... 주문 대상 hidden 값 / 배송지 입력 --&gt;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108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&lt;button type="submit" class="btn btn-primary btn-lg py-3 fw-bold"&gt;결제 및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주문완료하기&lt;/button&gt;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110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/>
          </a:p>
          <a:p>
            <a:pPr marL="0" marR="0" lvl="0" indent="0" algn="l" rtl="0">
              <a:lnSpc>
                <a:spcPct val="138823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OrderController.java / processOrder()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96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@PostMapping("/order/process")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String processOrder(@RequestParam("orderType") String orderType,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// ... 상품 / 수량 / 배송지 파라미터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Principal principal)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비로그인이면 /login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112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try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113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if ("DIRECT".equals(orderType))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    // ... OrderForm에 상품 / 수량 설정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119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orderService.order(orderForm, principal.getName(),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120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receiverName, receiverPhone, zipcode, basicAddress, detailAddress);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121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123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orderService.orderFromCart(cartItemIds, principal.getName(),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124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receiverName, receiverPhone, country, zipcode, basicAddress,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detailAddress);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125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126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 catch (Exception e)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실패하면 상세 / 장바구니로 이동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135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return "redirect:/orders";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CODE</a:t>
            </a:r>
            <a:endParaRPr/>
          </a:p>
        </p:txBody>
      </p:sp>
      <p:sp>
        <p:nvSpPr>
          <p:cNvPr id="666" name="Google Shape;666;p27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생성 코드 ② Service</a:t>
            </a:r>
            <a:endParaRPr/>
          </a:p>
        </p:txBody>
      </p:sp>
      <p:sp>
        <p:nvSpPr>
          <p:cNvPr id="667" name="Google Shape;667;p27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재고를 확인해 차감하고 주문 항목을 Order에 연결한 뒤 save(order) 한 번으로 저장합니다.</a:t>
            </a:r>
            <a:endParaRPr/>
          </a:p>
        </p:txBody>
      </p:sp>
      <p:sp>
        <p:nvSpPr>
          <p:cNvPr id="668" name="Google Shape;668;p27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669" name="Google Shape;669;p27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670" name="Google Shape;670;p27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671" name="Google Shape;671;p27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672" name="Google Shape;672;p27"/>
          <p:cNvSpPr/>
          <p:nvPr/>
        </p:nvSpPr>
        <p:spPr>
          <a:xfrm>
            <a:off x="7726679" y="2249424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7"/>
          <p:cNvSpPr txBox="1"/>
          <p:nvPr/>
        </p:nvSpPr>
        <p:spPr>
          <a:xfrm>
            <a:off x="7891271" y="224942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74" name="Google Shape;674;p27"/>
          <p:cNvSpPr txBox="1"/>
          <p:nvPr/>
        </p:nvSpPr>
        <p:spPr>
          <a:xfrm>
            <a:off x="8321040" y="2249424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재고 확인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getStock() &lt; 주문 수량이면 중단</a:t>
            </a:r>
            <a:endParaRPr/>
          </a:p>
        </p:txBody>
      </p:sp>
      <p:cxnSp>
        <p:nvCxnSpPr>
          <p:cNvPr id="675" name="Google Shape;675;p27"/>
          <p:cNvCxnSpPr/>
          <p:nvPr/>
        </p:nvCxnSpPr>
        <p:spPr>
          <a:xfrm>
            <a:off x="8055863" y="291144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76" name="Google Shape;676;p27"/>
          <p:cNvSpPr/>
          <p:nvPr/>
        </p:nvSpPr>
        <p:spPr>
          <a:xfrm>
            <a:off x="7726679" y="3076041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7"/>
          <p:cNvSpPr txBox="1"/>
          <p:nvPr/>
        </p:nvSpPr>
        <p:spPr>
          <a:xfrm>
            <a:off x="7891271" y="3076041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678" name="Google Shape;678;p27"/>
          <p:cNvSpPr txBox="1"/>
          <p:nvPr/>
        </p:nvSpPr>
        <p:spPr>
          <a:xfrm>
            <a:off x="8321040" y="3076041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정보 준비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OrderCustomer / Address / Delivery</a:t>
            </a:r>
            <a:endParaRPr/>
          </a:p>
        </p:txBody>
      </p:sp>
      <p:cxnSp>
        <p:nvCxnSpPr>
          <p:cNvPr id="679" name="Google Shape;679;p27"/>
          <p:cNvCxnSpPr/>
          <p:nvPr/>
        </p:nvCxnSpPr>
        <p:spPr>
          <a:xfrm>
            <a:off x="8055863" y="3738067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80" name="Google Shape;680;p27"/>
          <p:cNvSpPr/>
          <p:nvPr/>
        </p:nvSpPr>
        <p:spPr>
          <a:xfrm>
            <a:off x="7726679" y="3902659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7"/>
          <p:cNvSpPr txBox="1"/>
          <p:nvPr/>
        </p:nvSpPr>
        <p:spPr>
          <a:xfrm>
            <a:off x="7891271" y="3902659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82" name="Google Shape;682;p27"/>
          <p:cNvSpPr txBox="1"/>
          <p:nvPr/>
        </p:nvSpPr>
        <p:spPr>
          <a:xfrm>
            <a:off x="8321040" y="3902659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재고 차감 / 항목 연결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setStock(...) / getOrderItems().add()</a:t>
            </a:r>
            <a:endParaRPr/>
          </a:p>
        </p:txBody>
      </p:sp>
      <p:cxnSp>
        <p:nvCxnSpPr>
          <p:cNvPr id="683" name="Google Shape;683;p27"/>
          <p:cNvCxnSpPr/>
          <p:nvPr/>
        </p:nvCxnSpPr>
        <p:spPr>
          <a:xfrm>
            <a:off x="8055863" y="4564684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84" name="Google Shape;684;p27"/>
          <p:cNvSpPr/>
          <p:nvPr/>
        </p:nvSpPr>
        <p:spPr>
          <a:xfrm>
            <a:off x="7726679" y="4729276"/>
            <a:ext cx="3916375" cy="662025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7891271" y="4729276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86" name="Google Shape;686;p27"/>
          <p:cNvSpPr txBox="1"/>
          <p:nvPr/>
        </p:nvSpPr>
        <p:spPr>
          <a:xfrm>
            <a:off x="8321040" y="4729276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orderRepository.save(order)</a:t>
            </a:r>
            <a:endParaRPr/>
          </a:p>
        </p:txBody>
      </p:sp>
      <p:cxnSp>
        <p:nvCxnSpPr>
          <p:cNvPr id="687" name="Google Shape;687;p27"/>
          <p:cNvCxnSpPr/>
          <p:nvPr/>
        </p:nvCxnSpPr>
        <p:spPr>
          <a:xfrm>
            <a:off x="8055863" y="5391302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688" name="Google Shape;688;p27"/>
          <p:cNvSpPr/>
          <p:nvPr/>
        </p:nvSpPr>
        <p:spPr>
          <a:xfrm>
            <a:off x="7726679" y="5555894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7"/>
          <p:cNvSpPr txBox="1"/>
          <p:nvPr/>
        </p:nvSpPr>
        <p:spPr>
          <a:xfrm>
            <a:off x="7891271" y="555589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690" name="Google Shape;690;p27"/>
          <p:cNvSpPr txBox="1"/>
          <p:nvPr/>
        </p:nvSpPr>
        <p:spPr>
          <a:xfrm>
            <a:off x="8321040" y="5555894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정리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deleteAllById(cartItemIds)</a:t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548640" y="1920240"/>
            <a:ext cx="6903720" cy="398119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7"/>
          <p:cNvSpPr txBox="1"/>
          <p:nvPr/>
        </p:nvSpPr>
        <p:spPr>
          <a:xfrm>
            <a:off x="749808" y="2066544"/>
            <a:ext cx="6583680" cy="376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OrderService.java / orderFromCart()  장바구니 주문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158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Long orderFromCart(List&lt;Long&gt; cartItemIds,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// ... customerId / 수령인 / 배송지 파라미터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165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String detailAddress)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주문자 / 배송지 / 배송 정보 생성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199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Order order = new Order();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주문자 / 배송 / 주문일 / 상태 설정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205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List&lt;CartItem&gt; cartItems = cartItemRepository.findAllById(cartItemIds);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for (CartItem cartItem : cartItems)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208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Product product = cartItem.getProduct();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209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int count = cartItem.getQuantity();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211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if (product.getStock() &lt; count)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212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throw new IllegalStateException("[" + product.getName() +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"] 상품의 재고가 부족합니다. (현재 재고: " + product.getStock()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+ ")");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213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216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product.setStock(product.getStock() - count);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OrderItem 생성 (주문 / 상품 / 수량 / 금액)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226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order.getOrderItems().add(orderItem);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227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230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orderRepository.save(order);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233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cartItemRepository.deleteAllById(cartItemIds);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235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order.getId();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236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8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DATA</a:t>
            </a:r>
            <a:endParaRPr/>
          </a:p>
        </p:txBody>
      </p:sp>
      <p:sp>
        <p:nvSpPr>
          <p:cNvPr id="698" name="Google Shape;698;p28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Entity 관계와 저장되는 정보</a:t>
            </a:r>
            <a:endParaRPr/>
          </a:p>
        </p:txBody>
      </p:sp>
      <p:sp>
        <p:nvSpPr>
          <p:cNvPr id="699" name="Google Shape;699;p28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OrderRepository는 JpaRepository&lt;Order, Long&gt;를 상속하고 save(order) 한 번으로 cascade가 걸린 정보가 함께 저장됩니다.</a:t>
            </a:r>
            <a:endParaRPr/>
          </a:p>
        </p:txBody>
      </p:sp>
      <p:sp>
        <p:nvSpPr>
          <p:cNvPr id="700" name="Google Shape;700;p28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701" name="Google Shape;701;p28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702" name="Google Shape;702;p28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703" name="Google Shape;703;p28"/>
          <p:cNvSpPr/>
          <p:nvPr/>
        </p:nvSpPr>
        <p:spPr>
          <a:xfrm>
            <a:off x="4526280" y="1920240"/>
            <a:ext cx="3154680" cy="1188720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8"/>
          <p:cNvSpPr txBox="1"/>
          <p:nvPr/>
        </p:nvSpPr>
        <p:spPr>
          <a:xfrm>
            <a:off x="4663440" y="199339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Order (orders)</a:t>
            </a:r>
            <a:endParaRPr/>
          </a:p>
        </p:txBody>
      </p:sp>
      <p:sp>
        <p:nvSpPr>
          <p:cNvPr id="705" name="Google Shape;705;p28"/>
          <p:cNvSpPr txBox="1"/>
          <p:nvPr/>
        </p:nvSpPr>
        <p:spPr>
          <a:xfrm>
            <a:off x="4663440" y="2304288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order_id / orderDate / status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getTotalPrice()는 @Transient (컬럼 아님)</a:t>
            </a:r>
            <a:endParaRPr/>
          </a:p>
        </p:txBody>
      </p:sp>
      <p:sp>
        <p:nvSpPr>
          <p:cNvPr id="706" name="Google Shape;706;p28"/>
          <p:cNvSpPr/>
          <p:nvPr/>
        </p:nvSpPr>
        <p:spPr>
          <a:xfrm>
            <a:off x="548640" y="1920240"/>
            <a:ext cx="2971800" cy="1188720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8"/>
          <p:cNvSpPr txBox="1"/>
          <p:nvPr/>
        </p:nvSpPr>
        <p:spPr>
          <a:xfrm>
            <a:off x="685800" y="199339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OrderCustomer</a:t>
            </a:r>
            <a:endParaRPr/>
          </a:p>
        </p:txBody>
      </p:sp>
      <p:sp>
        <p:nvSpPr>
          <p:cNvPr id="708" name="Google Shape;708;p28"/>
          <p:cNvSpPr txBox="1"/>
          <p:nvPr/>
        </p:nvSpPr>
        <p:spPr>
          <a:xfrm>
            <a:off x="685800" y="2304288"/>
            <a:ext cx="2697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 당시 회원 정보 복사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customerId / name / phone</a:t>
            </a:r>
            <a:endParaRPr/>
          </a:p>
        </p:txBody>
      </p:sp>
      <p:sp>
        <p:nvSpPr>
          <p:cNvPr id="709" name="Google Shape;709;p28"/>
          <p:cNvSpPr/>
          <p:nvPr/>
        </p:nvSpPr>
        <p:spPr>
          <a:xfrm>
            <a:off x="9125712" y="1920240"/>
            <a:ext cx="2514600" cy="1188720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9262872" y="199339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Delivery</a:t>
            </a:r>
            <a:endParaRPr/>
          </a:p>
        </p:txBody>
      </p:sp>
      <p:sp>
        <p:nvSpPr>
          <p:cNvPr id="711" name="Google Shape;711;p28"/>
          <p:cNvSpPr txBox="1"/>
          <p:nvPr/>
        </p:nvSpPr>
        <p:spPr>
          <a:xfrm>
            <a:off x="9262872" y="2304288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receiverName / receiverPhone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status / deliveryDate</a:t>
            </a:r>
            <a:endParaRPr/>
          </a:p>
        </p:txBody>
      </p:sp>
      <p:sp>
        <p:nvSpPr>
          <p:cNvPr id="712" name="Google Shape;712;p28"/>
          <p:cNvSpPr/>
          <p:nvPr/>
        </p:nvSpPr>
        <p:spPr>
          <a:xfrm>
            <a:off x="548640" y="3977639"/>
            <a:ext cx="2971800" cy="960120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8"/>
          <p:cNvSpPr txBox="1"/>
          <p:nvPr/>
        </p:nvSpPr>
        <p:spPr>
          <a:xfrm>
            <a:off x="685800" y="4050791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Address (주문자 주소)</a:t>
            </a:r>
            <a:endParaRPr/>
          </a:p>
        </p:txBody>
      </p:sp>
      <p:sp>
        <p:nvSpPr>
          <p:cNvPr id="714" name="Google Shape;714;p28"/>
          <p:cNvSpPr txBox="1"/>
          <p:nvPr/>
        </p:nvSpPr>
        <p:spPr>
          <a:xfrm>
            <a:off x="685800" y="4361688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country / zipcode / 주소</a:t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9125712" y="3977639"/>
            <a:ext cx="2514600" cy="960120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8"/>
          <p:cNvSpPr txBox="1"/>
          <p:nvPr/>
        </p:nvSpPr>
        <p:spPr>
          <a:xfrm>
            <a:off x="9262872" y="4050791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Address (배송지)</a:t>
            </a:r>
            <a:endParaRPr/>
          </a:p>
        </p:txBody>
      </p:sp>
      <p:sp>
        <p:nvSpPr>
          <p:cNvPr id="717" name="Google Shape;717;p28"/>
          <p:cNvSpPr txBox="1"/>
          <p:nvPr/>
        </p:nvSpPr>
        <p:spPr>
          <a:xfrm>
            <a:off x="9262872" y="4361688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입력한 우편번호 / 주소</a:t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4526280" y="3977639"/>
            <a:ext cx="3154680" cy="960120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8"/>
          <p:cNvSpPr txBox="1"/>
          <p:nvPr/>
        </p:nvSpPr>
        <p:spPr>
          <a:xfrm>
            <a:off x="4663440" y="4050791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OrderItem</a:t>
            </a:r>
            <a:endParaRPr/>
          </a:p>
        </p:txBody>
      </p:sp>
      <p:sp>
        <p:nvSpPr>
          <p:cNvPr id="720" name="Google Shape;720;p28"/>
          <p:cNvSpPr txBox="1"/>
          <p:nvPr/>
        </p:nvSpPr>
        <p:spPr>
          <a:xfrm>
            <a:off x="4663440" y="4361688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orderPrice / count / totalPrice</a:t>
            </a:r>
            <a:endParaRPr/>
          </a:p>
        </p:txBody>
      </p:sp>
      <p:sp>
        <p:nvSpPr>
          <p:cNvPr id="721" name="Google Shape;721;p28"/>
          <p:cNvSpPr/>
          <p:nvPr/>
        </p:nvSpPr>
        <p:spPr>
          <a:xfrm>
            <a:off x="4526280" y="5349240"/>
            <a:ext cx="3154680" cy="822960"/>
          </a:xfrm>
          <a:prstGeom prst="rect">
            <a:avLst/>
          </a:prstGeom>
          <a:solidFill>
            <a:srgbClr val="3A2E25"/>
          </a:solidFill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8"/>
          <p:cNvSpPr txBox="1"/>
          <p:nvPr/>
        </p:nvSpPr>
        <p:spPr>
          <a:xfrm>
            <a:off x="4663440" y="542239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723" name="Google Shape;723;p28"/>
          <p:cNvSpPr txBox="1"/>
          <p:nvPr/>
        </p:nvSpPr>
        <p:spPr>
          <a:xfrm>
            <a:off x="4663440" y="5733288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stock을 주문 수량만큼 차감</a:t>
            </a:r>
            <a:endParaRPr/>
          </a:p>
        </p:txBody>
      </p:sp>
      <p:cxnSp>
        <p:nvCxnSpPr>
          <p:cNvPr id="724" name="Google Shape;724;p28"/>
          <p:cNvCxnSpPr/>
          <p:nvPr/>
        </p:nvCxnSpPr>
        <p:spPr>
          <a:xfrm>
            <a:off x="3520440" y="2514600"/>
            <a:ext cx="1005840" cy="0"/>
          </a:xfrm>
          <a:prstGeom prst="straightConnector1">
            <a:avLst/>
          </a:prstGeom>
          <a:noFill/>
          <a:ln w="1587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5" name="Google Shape;725;p28"/>
          <p:cNvSpPr txBox="1"/>
          <p:nvPr/>
        </p:nvSpPr>
        <p:spPr>
          <a:xfrm>
            <a:off x="3474720" y="256032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@OneToOne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cascade=ALL</a:t>
            </a:r>
            <a:endParaRPr/>
          </a:p>
        </p:txBody>
      </p:sp>
      <p:cxnSp>
        <p:nvCxnSpPr>
          <p:cNvPr id="726" name="Google Shape;726;p28"/>
          <p:cNvCxnSpPr/>
          <p:nvPr/>
        </p:nvCxnSpPr>
        <p:spPr>
          <a:xfrm>
            <a:off x="7680960" y="2514600"/>
            <a:ext cx="1444752" cy="0"/>
          </a:xfrm>
          <a:prstGeom prst="straightConnector1">
            <a:avLst/>
          </a:prstGeom>
          <a:noFill/>
          <a:ln w="1587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7" name="Google Shape;727;p28"/>
          <p:cNvSpPr txBox="1"/>
          <p:nvPr/>
        </p:nvSpPr>
        <p:spPr>
          <a:xfrm>
            <a:off x="7726679" y="2560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@OneToOne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cascade=ALL</a:t>
            </a:r>
            <a:endParaRPr/>
          </a:p>
        </p:txBody>
      </p:sp>
      <p:cxnSp>
        <p:nvCxnSpPr>
          <p:cNvPr id="728" name="Google Shape;728;p28"/>
          <p:cNvCxnSpPr/>
          <p:nvPr/>
        </p:nvCxnSpPr>
        <p:spPr>
          <a:xfrm>
            <a:off x="2011680" y="3108960"/>
            <a:ext cx="0" cy="868679"/>
          </a:xfrm>
          <a:prstGeom prst="straightConnector1">
            <a:avLst/>
          </a:prstGeom>
          <a:noFill/>
          <a:ln w="1587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9" name="Google Shape;729;p28"/>
          <p:cNvSpPr txBox="1"/>
          <p:nvPr/>
        </p:nvSpPr>
        <p:spPr>
          <a:xfrm>
            <a:off x="2103120" y="333756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@ManyToOne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cascade=ALL</a:t>
            </a:r>
            <a:endParaRPr/>
          </a:p>
        </p:txBody>
      </p:sp>
      <p:cxnSp>
        <p:nvCxnSpPr>
          <p:cNvPr id="730" name="Google Shape;730;p28"/>
          <p:cNvCxnSpPr/>
          <p:nvPr/>
        </p:nvCxnSpPr>
        <p:spPr>
          <a:xfrm>
            <a:off x="10378440" y="3108960"/>
            <a:ext cx="0" cy="868679"/>
          </a:xfrm>
          <a:prstGeom prst="straightConnector1">
            <a:avLst/>
          </a:prstGeom>
          <a:noFill/>
          <a:ln w="1587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1" name="Google Shape;731;p28"/>
          <p:cNvSpPr txBox="1"/>
          <p:nvPr/>
        </p:nvSpPr>
        <p:spPr>
          <a:xfrm>
            <a:off x="9006840" y="333756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@ManyToOne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cascade=ALL</a:t>
            </a:r>
            <a:endParaRPr/>
          </a:p>
        </p:txBody>
      </p:sp>
      <p:cxnSp>
        <p:nvCxnSpPr>
          <p:cNvPr id="732" name="Google Shape;732;p28"/>
          <p:cNvCxnSpPr/>
          <p:nvPr/>
        </p:nvCxnSpPr>
        <p:spPr>
          <a:xfrm>
            <a:off x="6099048" y="3108960"/>
            <a:ext cx="0" cy="868679"/>
          </a:xfrm>
          <a:prstGeom prst="straightConnector1">
            <a:avLst/>
          </a:prstGeom>
          <a:noFill/>
          <a:ln w="1587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3" name="Google Shape;733;p28"/>
          <p:cNvSpPr txBox="1"/>
          <p:nvPr/>
        </p:nvSpPr>
        <p:spPr>
          <a:xfrm>
            <a:off x="6199632" y="333756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@OneToMany(mappedBy="order")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cascade=ALL, orphanRemoval</a:t>
            </a:r>
            <a:endParaRPr/>
          </a:p>
        </p:txBody>
      </p:sp>
      <p:cxnSp>
        <p:nvCxnSpPr>
          <p:cNvPr id="734" name="Google Shape;734;p28"/>
          <p:cNvCxnSpPr/>
          <p:nvPr/>
        </p:nvCxnSpPr>
        <p:spPr>
          <a:xfrm>
            <a:off x="6099048" y="4937760"/>
            <a:ext cx="0" cy="411480"/>
          </a:xfrm>
          <a:prstGeom prst="straightConnector1">
            <a:avLst/>
          </a:prstGeom>
          <a:noFill/>
          <a:ln w="1587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5" name="Google Shape;735;p28"/>
          <p:cNvSpPr txBox="1"/>
          <p:nvPr/>
        </p:nvSpPr>
        <p:spPr>
          <a:xfrm>
            <a:off x="6199632" y="49560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Consolas"/>
                <a:ea typeface="Consolas"/>
                <a:cs typeface="Consolas"/>
                <a:sym typeface="Consolas"/>
              </a:rPr>
              <a:t>@ManyToOne</a:t>
            </a:r>
            <a:endParaRPr/>
          </a:p>
        </p:txBody>
      </p:sp>
      <p:sp>
        <p:nvSpPr>
          <p:cNvPr id="736" name="Google Shape;736;p28"/>
          <p:cNvSpPr/>
          <p:nvPr/>
        </p:nvSpPr>
        <p:spPr>
          <a:xfrm>
            <a:off x="8001000" y="5257800"/>
            <a:ext cx="3642055" cy="914400"/>
          </a:xfrm>
          <a:prstGeom prst="rect">
            <a:avLst/>
          </a:prstGeom>
          <a:solidFill>
            <a:srgbClr val="3A2E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8"/>
          <p:cNvSpPr txBox="1"/>
          <p:nvPr/>
        </p:nvSpPr>
        <p:spPr>
          <a:xfrm>
            <a:off x="8138160" y="5257800"/>
            <a:ext cx="336773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Order는 Customer를 직접 참조하지 않고 주문 당시 정보를 복사한 OrderCustomer를 연결합니다.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9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HISTORY</a:t>
            </a:r>
            <a:endParaRPr/>
          </a:p>
        </p:txBody>
      </p:sp>
      <p:sp>
        <p:nvSpPr>
          <p:cNvPr id="743" name="Google Shape;743;p29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내역 화면</a:t>
            </a:r>
            <a:endParaRPr/>
          </a:p>
        </p:txBody>
      </p:sp>
      <p:sp>
        <p:nvSpPr>
          <p:cNvPr id="744" name="Google Shape;744;p29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745" name="Google Shape;745;p29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746" name="Google Shape;746;p29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pic>
        <p:nvPicPr>
          <p:cNvPr id="747" name="Google Shape;747;p29" descr="주문 내역 화면"/>
          <p:cNvPicPr preferRelativeResize="0"/>
          <p:nvPr/>
        </p:nvPicPr>
        <p:blipFill rotWithShape="1">
          <a:blip r:embed="rId3">
            <a:alphaModFix/>
          </a:blip>
          <a:srcRect t="5137" b="40922"/>
          <a:stretch/>
        </p:blipFill>
        <p:spPr>
          <a:xfrm>
            <a:off x="3046836" y="408806"/>
            <a:ext cx="7864699" cy="583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0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ORDER  /  ORDER HISTORY</a:t>
            </a:r>
            <a:endParaRPr/>
          </a:p>
        </p:txBody>
      </p:sp>
      <p:sp>
        <p:nvSpPr>
          <p:cNvPr id="753" name="Google Shape;753;p30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내역 조회와 배송 확인</a:t>
            </a:r>
            <a:endParaRPr/>
          </a:p>
        </p:txBody>
      </p:sp>
      <p:sp>
        <p:nvSpPr>
          <p:cNvPr id="754" name="Google Shape;754;p30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상품명과 기간으로 주문을 찾고 배송 상태에 따라 취소나 후기 작성으로 이어집니다.</a:t>
            </a:r>
            <a:endParaRPr/>
          </a:p>
        </p:txBody>
      </p:sp>
      <p:sp>
        <p:nvSpPr>
          <p:cNvPr id="755" name="Google Shape;755;p30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756" name="Google Shape;756;p30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</p:txBody>
      </p:sp>
      <p:sp>
        <p:nvSpPr>
          <p:cNvPr id="757" name="Google Shape;757;p30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cxnSp>
        <p:nvCxnSpPr>
          <p:cNvPr id="758" name="Google Shape;758;p30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59" name="Google Shape;759;p30"/>
          <p:cNvSpPr txBox="1"/>
          <p:nvPr/>
        </p:nvSpPr>
        <p:spPr>
          <a:xfrm>
            <a:off x="548640" y="20574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조회 요청</a:t>
            </a:r>
            <a:endParaRPr/>
          </a:p>
        </p:txBody>
      </p:sp>
      <p:sp>
        <p:nvSpPr>
          <p:cNvPr id="760" name="Google Shape;760;p30"/>
          <p:cNvSpPr txBox="1"/>
          <p:nvPr/>
        </p:nvSpPr>
        <p:spPr>
          <a:xfrm>
            <a:off x="2377440" y="205740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/orders. 상품명(keyword), 시작일 / 종료일, 정렬(sortType)을 보냅니다.</a:t>
            </a:r>
            <a:endParaRPr/>
          </a:p>
        </p:txBody>
      </p:sp>
      <p:cxnSp>
        <p:nvCxnSpPr>
          <p:cNvPr id="761" name="Google Shape;761;p30"/>
          <p:cNvCxnSpPr/>
          <p:nvPr/>
        </p:nvCxnSpPr>
        <p:spPr>
          <a:xfrm>
            <a:off x="548640" y="265176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62" name="Google Shape;762;p30"/>
          <p:cNvSpPr txBox="1"/>
          <p:nvPr/>
        </p:nvSpPr>
        <p:spPr>
          <a:xfrm>
            <a:off x="548640" y="27889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기간 확인</a:t>
            </a:r>
            <a:endParaRPr/>
          </a:p>
        </p:txBody>
      </p:sp>
      <p:sp>
        <p:nvSpPr>
          <p:cNvPr id="763" name="Google Shape;763;p30"/>
          <p:cNvSpPr txBox="1"/>
          <p:nvPr/>
        </p:nvSpPr>
        <p:spPr>
          <a:xfrm>
            <a:off x="2377440" y="278892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시작일이 종료일보다 늦으면 Controller가 안내 문구와 빈 목록을 보여줍니다.</a:t>
            </a:r>
            <a:endParaRPr/>
          </a:p>
        </p:txBody>
      </p:sp>
      <p:cxnSp>
        <p:nvCxnSpPr>
          <p:cNvPr id="764" name="Google Shape;764;p30"/>
          <p:cNvCxnSpPr/>
          <p:nvPr/>
        </p:nvCxnSpPr>
        <p:spPr>
          <a:xfrm>
            <a:off x="548640" y="338328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65" name="Google Shape;765;p30"/>
          <p:cNvSpPr txBox="1"/>
          <p:nvPr/>
        </p:nvSpPr>
        <p:spPr>
          <a:xfrm>
            <a:off x="548640" y="35204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종료일 포함</a:t>
            </a:r>
            <a:endParaRPr/>
          </a:p>
        </p:txBody>
      </p:sp>
      <p:sp>
        <p:nvSpPr>
          <p:cNvPr id="766" name="Google Shape;766;p30"/>
          <p:cNvSpPr txBox="1"/>
          <p:nvPr/>
        </p:nvSpPr>
        <p:spPr>
          <a:xfrm>
            <a:off x="2377440" y="352044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getOrderList()가 종료일을 endDate.plusDays(1).atStartOfDay()로 바꿔 '미만'으로 비교합니다.</a:t>
            </a:r>
            <a:endParaRPr/>
          </a:p>
        </p:txBody>
      </p:sp>
      <p:cxnSp>
        <p:nvCxnSpPr>
          <p:cNvPr id="767" name="Google Shape;767;p30"/>
          <p:cNvCxnSpPr/>
          <p:nvPr/>
        </p:nvCxnSpPr>
        <p:spPr>
          <a:xfrm>
            <a:off x="548640" y="411480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68" name="Google Shape;768;p30"/>
          <p:cNvSpPr txBox="1"/>
          <p:nvPr/>
        </p:nvSpPr>
        <p:spPr>
          <a:xfrm>
            <a:off x="548640" y="425196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정렬 / 페이징</a:t>
            </a:r>
            <a:endParaRPr/>
          </a:p>
        </p:txBody>
      </p:sp>
      <p:sp>
        <p:nvSpPr>
          <p:cNvPr id="769" name="Google Shape;769;p30"/>
          <p:cNvSpPr txBox="1"/>
          <p:nvPr/>
        </p:nvSpPr>
        <p:spPr>
          <a:xfrm>
            <a:off x="2377440" y="425196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최근/오래된 주문순, 주문 단위 10건씩. 여러 상품 주문은 접어 두고 펼칩니다.</a:t>
            </a:r>
            <a:endParaRPr/>
          </a:p>
        </p:txBody>
      </p:sp>
      <p:cxnSp>
        <p:nvCxnSpPr>
          <p:cNvPr id="770" name="Google Shape;770;p30"/>
          <p:cNvCxnSpPr/>
          <p:nvPr/>
        </p:nvCxnSpPr>
        <p:spPr>
          <a:xfrm>
            <a:off x="548640" y="484632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71" name="Google Shape;771;p30"/>
          <p:cNvSpPr txBox="1"/>
          <p:nvPr/>
        </p:nvSpPr>
        <p:spPr>
          <a:xfrm>
            <a:off x="548640" y="49834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취소와 후기</a:t>
            </a:r>
            <a:endParaRPr/>
          </a:p>
        </p:txBody>
      </p:sp>
      <p:sp>
        <p:nvSpPr>
          <p:cNvPr id="772" name="Google Shape;772;p30"/>
          <p:cNvSpPr txBox="1"/>
          <p:nvPr/>
        </p:nvSpPr>
        <p:spPr>
          <a:xfrm>
            <a:off x="2377440" y="498348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주문완료 / 상품준비중인 주문만 취소할 수 있고 재고를 되돌립니다. 배송완료가 되면 후기 버튼이 나옵니다.</a:t>
            </a:r>
            <a:endParaRPr/>
          </a:p>
        </p:txBody>
      </p:sp>
      <p:cxnSp>
        <p:nvCxnSpPr>
          <p:cNvPr id="773" name="Google Shape;773;p30"/>
          <p:cNvCxnSpPr/>
          <p:nvPr/>
        </p:nvCxnSpPr>
        <p:spPr>
          <a:xfrm>
            <a:off x="548640" y="55778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1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1000"/>
              <a:buNone/>
            </a:pPr>
            <a:r>
              <a:rPr lang="en-US" sz="1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779" name="Google Shape;779;p31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</a:pPr>
            <a:r>
              <a:rPr lang="en-US" sz="40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780" name="Google Shape;780;p31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400"/>
              <a:buNone/>
            </a:pPr>
            <a:r>
              <a:rPr lang="en-US" sz="14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배송이 끝난 주문에 후기를 쓰고, 상품 상세에서 후기 / 댓글 / 추천을 보는 과정입니다.</a:t>
            </a:r>
            <a:endParaRPr/>
          </a:p>
        </p:txBody>
      </p:sp>
      <p:sp>
        <p:nvSpPr>
          <p:cNvPr id="781" name="Google Shape;781;p31"/>
          <p:cNvSpPr txBox="1"/>
          <p:nvPr/>
        </p:nvSpPr>
        <p:spPr>
          <a:xfrm>
            <a:off x="3127248" y="3913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후기</a:t>
            </a:r>
            <a:endParaRPr/>
          </a:p>
        </p:txBody>
      </p:sp>
      <p:sp>
        <p:nvSpPr>
          <p:cNvPr id="782" name="Google Shape;782;p31"/>
          <p:cNvSpPr txBox="1"/>
          <p:nvPr/>
        </p:nvSpPr>
        <p:spPr>
          <a:xfrm>
            <a:off x="7086600" y="3767328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IN THIS SECTION</a:t>
            </a:r>
            <a:endParaRPr/>
          </a:p>
        </p:txBody>
      </p:sp>
      <p:cxnSp>
        <p:nvCxnSpPr>
          <p:cNvPr id="783" name="Google Shape;783;p31"/>
          <p:cNvCxnSpPr/>
          <p:nvPr/>
        </p:nvCxnSpPr>
        <p:spPr>
          <a:xfrm>
            <a:off x="7086600" y="4041648"/>
            <a:ext cx="4553712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4" name="Google Shape;784;p31"/>
          <p:cNvSpPr txBox="1"/>
          <p:nvPr/>
        </p:nvSpPr>
        <p:spPr>
          <a:xfrm>
            <a:off x="7086600" y="40416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작성</a:t>
            </a:r>
            <a:endParaRPr/>
          </a:p>
        </p:txBody>
      </p:sp>
      <p:sp>
        <p:nvSpPr>
          <p:cNvPr id="785" name="Google Shape;785;p31"/>
          <p:cNvSpPr txBox="1"/>
          <p:nvPr/>
        </p:nvSpPr>
        <p:spPr>
          <a:xfrm>
            <a:off x="9592056" y="404164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WRITE REVIEW</a:t>
            </a:r>
            <a:endParaRPr/>
          </a:p>
        </p:txBody>
      </p:sp>
      <p:cxnSp>
        <p:nvCxnSpPr>
          <p:cNvPr id="786" name="Google Shape;786;p31"/>
          <p:cNvCxnSpPr/>
          <p:nvPr/>
        </p:nvCxnSpPr>
        <p:spPr>
          <a:xfrm>
            <a:off x="7086600" y="4389120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7" name="Google Shape;787;p31"/>
          <p:cNvSpPr txBox="1"/>
          <p:nvPr/>
        </p:nvSpPr>
        <p:spPr>
          <a:xfrm>
            <a:off x="7086600" y="43891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조회</a:t>
            </a:r>
            <a:endParaRPr/>
          </a:p>
        </p:txBody>
      </p:sp>
      <p:sp>
        <p:nvSpPr>
          <p:cNvPr id="788" name="Google Shape;788;p31"/>
          <p:cNvSpPr txBox="1"/>
          <p:nvPr/>
        </p:nvSpPr>
        <p:spPr>
          <a:xfrm>
            <a:off x="9592056" y="4389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 LIST</a:t>
            </a:r>
            <a:endParaRPr/>
          </a:p>
        </p:txBody>
      </p:sp>
      <p:cxnSp>
        <p:nvCxnSpPr>
          <p:cNvPr id="789" name="Google Shape;789;p31"/>
          <p:cNvCxnSpPr/>
          <p:nvPr/>
        </p:nvCxnSpPr>
        <p:spPr>
          <a:xfrm>
            <a:off x="7086600" y="4736592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90" name="Google Shape;790;p31"/>
          <p:cNvSpPr txBox="1"/>
          <p:nvPr/>
        </p:nvSpPr>
        <p:spPr>
          <a:xfrm>
            <a:off x="7086600" y="47365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댓글 / 추천</a:t>
            </a:r>
            <a:endParaRPr/>
          </a:p>
        </p:txBody>
      </p:sp>
      <p:sp>
        <p:nvSpPr>
          <p:cNvPr id="791" name="Google Shape;791;p31"/>
          <p:cNvSpPr txBox="1"/>
          <p:nvPr/>
        </p:nvSpPr>
        <p:spPr>
          <a:xfrm>
            <a:off x="9592056" y="473659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COMMENT / RECOMMEND</a:t>
            </a:r>
            <a:endParaRPr/>
          </a:p>
        </p:txBody>
      </p:sp>
      <p:cxnSp>
        <p:nvCxnSpPr>
          <p:cNvPr id="792" name="Google Shape;792;p31"/>
          <p:cNvCxnSpPr/>
          <p:nvPr/>
        </p:nvCxnSpPr>
        <p:spPr>
          <a:xfrm>
            <a:off x="7086600" y="5084064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93" name="Google Shape;793;p31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794" name="Google Shape;794;p31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795" name="Google Shape;795;p31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WRITE REVIEW</a:t>
            </a:r>
            <a:endParaRPr/>
          </a:p>
        </p:txBody>
      </p:sp>
      <p:sp>
        <p:nvSpPr>
          <p:cNvPr id="801" name="Google Shape;801;p3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/>
              <a:t>후기 작성 — 주문 내역</a:t>
            </a:r>
            <a:endParaRPr/>
          </a:p>
        </p:txBody>
      </p:sp>
      <p:sp>
        <p:nvSpPr>
          <p:cNvPr id="802" name="Google Shape;802;p32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803" name="Google Shape;803;p32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804" name="Google Shape;804;p32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805" name="Google Shape;805;p32"/>
          <p:cNvSpPr/>
          <p:nvPr/>
        </p:nvSpPr>
        <p:spPr>
          <a:xfrm>
            <a:off x="1174222" y="1399032"/>
            <a:ext cx="9843250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6" name="Google Shape;806;p32" descr="후기 작성 모달 — 주문 내역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510" y="1417320"/>
            <a:ext cx="9806674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3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WRITE REVIEW</a:t>
            </a:r>
            <a:endParaRPr/>
          </a:p>
        </p:txBody>
      </p:sp>
      <p:sp>
        <p:nvSpPr>
          <p:cNvPr id="812" name="Google Shape;812;p33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작성 처리</a:t>
            </a:r>
            <a:endParaRPr/>
          </a:p>
        </p:txBody>
      </p:sp>
      <p:sp>
        <p:nvSpPr>
          <p:cNvPr id="813" name="Google Shape;813;p33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후기는 주문 내역에서 씁니다. 배송완료된 주문에만 '후기 작성/수정' 버튼이 나옵니다.</a:t>
            </a:r>
            <a:endParaRPr/>
          </a:p>
        </p:txBody>
      </p:sp>
      <p:sp>
        <p:nvSpPr>
          <p:cNvPr id="814" name="Google Shape;814;p33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815" name="Google Shape;815;p33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816" name="Google Shape;816;p33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cxnSp>
        <p:nvCxnSpPr>
          <p:cNvPr id="817" name="Google Shape;817;p33"/>
          <p:cNvCxnSpPr/>
          <p:nvPr/>
        </p:nvCxnSpPr>
        <p:spPr>
          <a:xfrm>
            <a:off x="548640" y="192024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18" name="Google Shape;818;p33"/>
          <p:cNvSpPr txBox="1"/>
          <p:nvPr/>
        </p:nvSpPr>
        <p:spPr>
          <a:xfrm>
            <a:off x="548640" y="2057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작성/수정 구분</a:t>
            </a:r>
            <a:endParaRPr/>
          </a:p>
        </p:txBody>
      </p:sp>
      <p:sp>
        <p:nvSpPr>
          <p:cNvPr id="819" name="Google Shape;819;p33"/>
          <p:cNvSpPr txBox="1"/>
          <p:nvPr/>
        </p:nvSpPr>
        <p:spPr>
          <a:xfrm>
            <a:off x="2148840" y="2057400"/>
            <a:ext cx="4572000" cy="86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모달을 열면 orderHistory.js가 주문 항목의 후기가 있는지 확인해 폼 주소를 /reviews 또는 /reviews/update로 바꿉니다.</a:t>
            </a:r>
            <a:endParaRPr/>
          </a:p>
        </p:txBody>
      </p:sp>
      <p:cxnSp>
        <p:nvCxnSpPr>
          <p:cNvPr id="820" name="Google Shape;820;p33"/>
          <p:cNvCxnSpPr/>
          <p:nvPr/>
        </p:nvCxnSpPr>
        <p:spPr>
          <a:xfrm>
            <a:off x="548640" y="296379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1" name="Google Shape;821;p33"/>
          <p:cNvSpPr txBox="1"/>
          <p:nvPr/>
        </p:nvSpPr>
        <p:spPr>
          <a:xfrm>
            <a:off x="548640" y="310095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입력과 요청</a:t>
            </a:r>
            <a:endParaRPr/>
          </a:p>
        </p:txBody>
      </p:sp>
      <p:sp>
        <p:nvSpPr>
          <p:cNvPr id="822" name="Google Shape;822;p33"/>
          <p:cNvSpPr txBox="1"/>
          <p:nvPr/>
        </p:nvSpPr>
        <p:spPr>
          <a:xfrm>
            <a:off x="2148840" y="310095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평점(1~5 선택), 내용, 사진(선택)을 multipart 폼으로 POST /reviews에 보냅니다.</a:t>
            </a:r>
            <a:endParaRPr/>
          </a:p>
        </p:txBody>
      </p:sp>
      <p:cxnSp>
        <p:nvCxnSpPr>
          <p:cNvPr id="823" name="Google Shape;823;p33"/>
          <p:cNvCxnSpPr/>
          <p:nvPr/>
        </p:nvCxnSpPr>
        <p:spPr>
          <a:xfrm>
            <a:off x="548640" y="380580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4" name="Google Shape;824;p33"/>
          <p:cNvSpPr txBox="1"/>
          <p:nvPr/>
        </p:nvSpPr>
        <p:spPr>
          <a:xfrm>
            <a:off x="548640" y="394296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작성 조건</a:t>
            </a:r>
            <a:endParaRPr/>
          </a:p>
        </p:txBody>
      </p:sp>
      <p:sp>
        <p:nvSpPr>
          <p:cNvPr id="825" name="Google Shape;825;p33"/>
          <p:cNvSpPr txBox="1"/>
          <p:nvPr/>
        </p:nvSpPr>
        <p:spPr>
          <a:xfrm>
            <a:off x="2148840" y="394296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 상품이 있는지, 본인 주문인지, 배송완료인지, 이미 쓴 후기가 없는지 확인합니다.</a:t>
            </a:r>
            <a:endParaRPr/>
          </a:p>
        </p:txBody>
      </p:sp>
      <p:cxnSp>
        <p:nvCxnSpPr>
          <p:cNvPr id="826" name="Google Shape;826;p33"/>
          <p:cNvCxnSpPr/>
          <p:nvPr/>
        </p:nvCxnSpPr>
        <p:spPr>
          <a:xfrm>
            <a:off x="548640" y="464781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27" name="Google Shape;827;p33"/>
          <p:cNvSpPr txBox="1"/>
          <p:nvPr/>
        </p:nvSpPr>
        <p:spPr>
          <a:xfrm>
            <a:off x="548640" y="478497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</p:txBody>
      </p:sp>
      <p:sp>
        <p:nvSpPr>
          <p:cNvPr id="828" name="Google Shape;828;p33"/>
          <p:cNvSpPr txBox="1"/>
          <p:nvPr/>
        </p:nvSpPr>
        <p:spPr>
          <a:xfrm>
            <a:off x="2148840" y="478497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Review에 회원 / 상품 / 주문 항목 / 평점 / 내용을 넣고, 사진은 파일로 저장한 뒤 파일명만 기록해 save()합니다.</a:t>
            </a:r>
            <a:endParaRPr/>
          </a:p>
        </p:txBody>
      </p:sp>
      <p:cxnSp>
        <p:nvCxnSpPr>
          <p:cNvPr id="829" name="Google Shape;829;p33"/>
          <p:cNvCxnSpPr/>
          <p:nvPr/>
        </p:nvCxnSpPr>
        <p:spPr>
          <a:xfrm>
            <a:off x="548640" y="548982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30" name="Google Shape;830;p33"/>
          <p:cNvSpPr txBox="1"/>
          <p:nvPr/>
        </p:nvSpPr>
        <p:spPr>
          <a:xfrm>
            <a:off x="7178040" y="1920240"/>
            <a:ext cx="446501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7178040" y="2249424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3"/>
          <p:cNvSpPr txBox="1"/>
          <p:nvPr/>
        </p:nvSpPr>
        <p:spPr>
          <a:xfrm>
            <a:off x="7342631" y="224942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33" name="Google Shape;833;p33"/>
          <p:cNvSpPr txBox="1"/>
          <p:nvPr/>
        </p:nvSpPr>
        <p:spPr>
          <a:xfrm>
            <a:off x="7772400" y="2249424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POST /reviews (multipart)</a:t>
            </a:r>
            <a:endParaRPr/>
          </a:p>
        </p:txBody>
      </p:sp>
      <p:cxnSp>
        <p:nvCxnSpPr>
          <p:cNvPr id="834" name="Google Shape;834;p33"/>
          <p:cNvCxnSpPr/>
          <p:nvPr/>
        </p:nvCxnSpPr>
        <p:spPr>
          <a:xfrm>
            <a:off x="7507223" y="291144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35" name="Google Shape;835;p33"/>
          <p:cNvSpPr/>
          <p:nvPr/>
        </p:nvSpPr>
        <p:spPr>
          <a:xfrm>
            <a:off x="7178040" y="3076041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7342631" y="3076041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37" name="Google Shape;837;p33"/>
          <p:cNvSpPr txBox="1"/>
          <p:nvPr/>
        </p:nvSpPr>
        <p:spPr>
          <a:xfrm>
            <a:off x="7772400" y="3076041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ReviewController.createReview()</a:t>
            </a:r>
            <a:endParaRPr/>
          </a:p>
        </p:txBody>
      </p:sp>
      <p:cxnSp>
        <p:nvCxnSpPr>
          <p:cNvPr id="838" name="Google Shape;838;p33"/>
          <p:cNvCxnSpPr/>
          <p:nvPr/>
        </p:nvCxnSpPr>
        <p:spPr>
          <a:xfrm>
            <a:off x="7507223" y="3738067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39" name="Google Shape;839;p33"/>
          <p:cNvSpPr/>
          <p:nvPr/>
        </p:nvSpPr>
        <p:spPr>
          <a:xfrm>
            <a:off x="7178040" y="3902659"/>
            <a:ext cx="4465015" cy="662025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3"/>
          <p:cNvSpPr txBox="1"/>
          <p:nvPr/>
        </p:nvSpPr>
        <p:spPr>
          <a:xfrm>
            <a:off x="7342631" y="3902659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41" name="Google Shape;841;p33"/>
          <p:cNvSpPr txBox="1"/>
          <p:nvPr/>
        </p:nvSpPr>
        <p:spPr>
          <a:xfrm>
            <a:off x="7772400" y="3902659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Service / 조건 확인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ReviewService.saveReview()</a:t>
            </a:r>
            <a:endParaRPr/>
          </a:p>
        </p:txBody>
      </p:sp>
      <p:cxnSp>
        <p:nvCxnSpPr>
          <p:cNvPr id="842" name="Google Shape;842;p33"/>
          <p:cNvCxnSpPr/>
          <p:nvPr/>
        </p:nvCxnSpPr>
        <p:spPr>
          <a:xfrm>
            <a:off x="7507223" y="4564684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43" name="Google Shape;843;p33"/>
          <p:cNvSpPr/>
          <p:nvPr/>
        </p:nvSpPr>
        <p:spPr>
          <a:xfrm>
            <a:off x="7178040" y="4729276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3"/>
          <p:cNvSpPr txBox="1"/>
          <p:nvPr/>
        </p:nvSpPr>
        <p:spPr>
          <a:xfrm>
            <a:off x="7342631" y="4729276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45" name="Google Shape;845;p33"/>
          <p:cNvSpPr txBox="1"/>
          <p:nvPr/>
        </p:nvSpPr>
        <p:spPr>
          <a:xfrm>
            <a:off x="7772400" y="4729276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조회 OrderItem / Customer / 저장 Review</a:t>
            </a:r>
            <a:endParaRPr/>
          </a:p>
        </p:txBody>
      </p:sp>
      <p:cxnSp>
        <p:nvCxnSpPr>
          <p:cNvPr id="846" name="Google Shape;846;p33"/>
          <p:cNvCxnSpPr/>
          <p:nvPr/>
        </p:nvCxnSpPr>
        <p:spPr>
          <a:xfrm>
            <a:off x="7507223" y="5391302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47" name="Google Shape;847;p33"/>
          <p:cNvSpPr/>
          <p:nvPr/>
        </p:nvSpPr>
        <p:spPr>
          <a:xfrm>
            <a:off x="7178040" y="5555894"/>
            <a:ext cx="446501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3"/>
          <p:cNvSpPr txBox="1"/>
          <p:nvPr/>
        </p:nvSpPr>
        <p:spPr>
          <a:xfrm>
            <a:off x="7342631" y="555589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849" name="Google Shape;849;p33"/>
          <p:cNvSpPr txBox="1"/>
          <p:nvPr/>
        </p:nvSpPr>
        <p:spPr>
          <a:xfrm>
            <a:off x="7772400" y="5555894"/>
            <a:ext cx="377921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Entity → DB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Review (order_item_id unique)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REVIEW CODE</a:t>
            </a:r>
            <a:endParaRPr/>
          </a:p>
        </p:txBody>
      </p:sp>
      <p:sp>
        <p:nvSpPr>
          <p:cNvPr id="855" name="Google Shape;855;p3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작성 코드 ① View / Controller</a:t>
            </a:r>
            <a:endParaRPr/>
          </a:p>
        </p:txBody>
      </p:sp>
      <p:sp>
        <p:nvSpPr>
          <p:cNvPr id="856" name="Google Shape;856;p34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기존 후기 여부로 폼 주소를 바꾸고 선택한 주문 항목 번호와 입력값을 Controller로 보냅니다.</a:t>
            </a:r>
            <a:endParaRPr/>
          </a:p>
        </p:txBody>
      </p:sp>
      <p:sp>
        <p:nvSpPr>
          <p:cNvPr id="857" name="Google Shape;857;p34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858" name="Google Shape;858;p34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861" name="Google Shape;861;p34"/>
          <p:cNvSpPr/>
          <p:nvPr/>
        </p:nvSpPr>
        <p:spPr>
          <a:xfrm>
            <a:off x="7726679" y="2249424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4"/>
          <p:cNvSpPr txBox="1"/>
          <p:nvPr/>
        </p:nvSpPr>
        <p:spPr>
          <a:xfrm>
            <a:off x="789127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63" name="Google Shape;863;p34"/>
          <p:cNvSpPr txBox="1"/>
          <p:nvPr/>
        </p:nvSpPr>
        <p:spPr>
          <a:xfrm>
            <a:off x="8321040" y="2249424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폼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POST /reviews / orderItemId(숨은 값)</a:t>
            </a:r>
            <a:endParaRPr/>
          </a:p>
        </p:txBody>
      </p:sp>
      <p:cxnSp>
        <p:nvCxnSpPr>
          <p:cNvPr id="864" name="Google Shape;864;p34"/>
          <p:cNvCxnSpPr/>
          <p:nvPr/>
        </p:nvCxnSpPr>
        <p:spPr>
          <a:xfrm>
            <a:off x="805586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65" name="Google Shape;865;p34"/>
          <p:cNvSpPr/>
          <p:nvPr/>
        </p:nvSpPr>
        <p:spPr>
          <a:xfrm>
            <a:off x="7726679" y="3181350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4"/>
          <p:cNvSpPr txBox="1"/>
          <p:nvPr/>
        </p:nvSpPr>
        <p:spPr>
          <a:xfrm>
            <a:off x="789127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67" name="Google Shape;867;p34"/>
          <p:cNvSpPr txBox="1"/>
          <p:nvPr/>
        </p:nvSpPr>
        <p:spPr>
          <a:xfrm>
            <a:off x="8321040" y="3181350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작성/수정 전환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exists → /reviews/update, 없으면 /reviews</a:t>
            </a:r>
            <a:endParaRPr/>
          </a:p>
        </p:txBody>
      </p:sp>
      <p:cxnSp>
        <p:nvCxnSpPr>
          <p:cNvPr id="868" name="Google Shape;868;p34"/>
          <p:cNvCxnSpPr/>
          <p:nvPr/>
        </p:nvCxnSpPr>
        <p:spPr>
          <a:xfrm>
            <a:off x="805586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69" name="Google Shape;869;p34"/>
          <p:cNvSpPr/>
          <p:nvPr/>
        </p:nvSpPr>
        <p:spPr>
          <a:xfrm>
            <a:off x="7726679" y="4113275"/>
            <a:ext cx="391637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4"/>
          <p:cNvSpPr txBox="1"/>
          <p:nvPr/>
        </p:nvSpPr>
        <p:spPr>
          <a:xfrm>
            <a:off x="789127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8321040" y="4113275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reviewService.saveReview(...)</a:t>
            </a:r>
            <a:endParaRPr/>
          </a:p>
        </p:txBody>
      </p:sp>
      <p:cxnSp>
        <p:nvCxnSpPr>
          <p:cNvPr id="872" name="Google Shape;872;p34"/>
          <p:cNvCxnSpPr/>
          <p:nvPr/>
        </p:nvCxnSpPr>
        <p:spPr>
          <a:xfrm>
            <a:off x="805586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73" name="Google Shape;873;p34"/>
          <p:cNvSpPr/>
          <p:nvPr/>
        </p:nvSpPr>
        <p:spPr>
          <a:xfrm>
            <a:off x="7726679" y="5045202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4"/>
          <p:cNvSpPr txBox="1"/>
          <p:nvPr/>
        </p:nvSpPr>
        <p:spPr>
          <a:xfrm>
            <a:off x="789127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75" name="Google Shape;875;p34"/>
          <p:cNvSpPr txBox="1"/>
          <p:nvPr/>
        </p:nvSpPr>
        <p:spPr>
          <a:xfrm>
            <a:off x="8321040" y="5045202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redirect:/orders</a:t>
            </a:r>
            <a:endParaRPr/>
          </a:p>
        </p:txBody>
      </p:sp>
      <p:sp>
        <p:nvSpPr>
          <p:cNvPr id="876" name="Google Shape;876;p34"/>
          <p:cNvSpPr/>
          <p:nvPr/>
        </p:nvSpPr>
        <p:spPr>
          <a:xfrm>
            <a:off x="548640" y="1920240"/>
            <a:ext cx="6903720" cy="408279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4"/>
          <p:cNvSpPr txBox="1"/>
          <p:nvPr/>
        </p:nvSpPr>
        <p:spPr>
          <a:xfrm>
            <a:off x="749808" y="2066544"/>
            <a:ext cx="6583680" cy="3863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orderHistory.js / loadReviewData()  기존 후기 여부로 폼 주소 결정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if (data.exists)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제목 / 버튼 문구 변경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99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reviewForm.action = "/reviews/update";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기존 후기 값 채움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109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제목 / 버튼 문구 변경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113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reviewForm.action = "/reviews";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입력값 초기화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119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ReviewController.java / createReview()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27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@PostMapping("/reviews")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28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String createReview(@RequestParam("orderItemId") Long orderItemId,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// ... rating / content / reviewImage / Principal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33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RedirectAttributes rttr)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비로그인이면 /login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38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try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40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reviewService.saveReview(orderItemId, principal.getName(), rating,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content, reviewImage);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41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rttr.addFlashAttribute("message", "후기가 성공적으로 등록되었습니다.");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    // ... 실패하면 오류 메시지 전달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49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return "redirect:/orders";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50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5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REVIEW CODE</a:t>
            </a:r>
            <a:endParaRPr/>
          </a:p>
        </p:txBody>
      </p:sp>
      <p:sp>
        <p:nvSpPr>
          <p:cNvPr id="883" name="Google Shape;883;p35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작성 코드 ② Service / Repository / Entity</a:t>
            </a:r>
            <a:endParaRPr/>
          </a:p>
        </p:txBody>
      </p:sp>
      <p:sp>
        <p:nvSpPr>
          <p:cNvPr id="884" name="Google Shape;884;p35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작성 조건을 차례로 확인하고 사진 파일명을 넣은 Review를 save()로 저장합니다.</a:t>
            </a:r>
            <a:endParaRPr/>
          </a:p>
        </p:txBody>
      </p:sp>
      <p:sp>
        <p:nvSpPr>
          <p:cNvPr id="885" name="Google Shape;885;p35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886" name="Google Shape;886;p35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887" name="Google Shape;887;p35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888" name="Google Shape;888;p35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889" name="Google Shape;889;p35"/>
          <p:cNvSpPr/>
          <p:nvPr/>
        </p:nvSpPr>
        <p:spPr>
          <a:xfrm>
            <a:off x="7726679" y="2249424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5"/>
          <p:cNvSpPr txBox="1"/>
          <p:nvPr/>
        </p:nvSpPr>
        <p:spPr>
          <a:xfrm>
            <a:off x="7891271" y="224942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91" name="Google Shape;891;p35"/>
          <p:cNvSpPr txBox="1"/>
          <p:nvPr/>
        </p:nvSpPr>
        <p:spPr>
          <a:xfrm>
            <a:off x="8321040" y="2249424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조회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orderItemRepository.findById()</a:t>
            </a:r>
            <a:endParaRPr/>
          </a:p>
        </p:txBody>
      </p:sp>
      <p:cxnSp>
        <p:nvCxnSpPr>
          <p:cNvPr id="892" name="Google Shape;892;p35"/>
          <p:cNvCxnSpPr/>
          <p:nvPr/>
        </p:nvCxnSpPr>
        <p:spPr>
          <a:xfrm>
            <a:off x="8055863" y="291144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93" name="Google Shape;893;p35"/>
          <p:cNvSpPr/>
          <p:nvPr/>
        </p:nvSpPr>
        <p:spPr>
          <a:xfrm>
            <a:off x="7726679" y="3076041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5"/>
          <p:cNvSpPr txBox="1"/>
          <p:nvPr/>
        </p:nvSpPr>
        <p:spPr>
          <a:xfrm>
            <a:off x="7891271" y="3076041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95" name="Google Shape;895;p35"/>
          <p:cNvSpPr txBox="1"/>
          <p:nvPr/>
        </p:nvSpPr>
        <p:spPr>
          <a:xfrm>
            <a:off x="8321040" y="3076041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작성 조건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본인 주문 / 배송완료 / 중복 여부</a:t>
            </a:r>
            <a:endParaRPr/>
          </a:p>
        </p:txBody>
      </p:sp>
      <p:cxnSp>
        <p:nvCxnSpPr>
          <p:cNvPr id="896" name="Google Shape;896;p35"/>
          <p:cNvCxnSpPr/>
          <p:nvPr/>
        </p:nvCxnSpPr>
        <p:spPr>
          <a:xfrm>
            <a:off x="8055863" y="3738067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897" name="Google Shape;897;p35"/>
          <p:cNvSpPr/>
          <p:nvPr/>
        </p:nvSpPr>
        <p:spPr>
          <a:xfrm>
            <a:off x="7726679" y="3902659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5"/>
          <p:cNvSpPr txBox="1"/>
          <p:nvPr/>
        </p:nvSpPr>
        <p:spPr>
          <a:xfrm>
            <a:off x="7891271" y="3902659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99" name="Google Shape;899;p35"/>
          <p:cNvSpPr txBox="1"/>
          <p:nvPr/>
        </p:nvSpPr>
        <p:spPr>
          <a:xfrm>
            <a:off x="8321040" y="3902659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사진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saveFile() → setReviewImage(파일명)</a:t>
            </a:r>
            <a:endParaRPr/>
          </a:p>
        </p:txBody>
      </p:sp>
      <p:cxnSp>
        <p:nvCxnSpPr>
          <p:cNvPr id="900" name="Google Shape;900;p35"/>
          <p:cNvCxnSpPr/>
          <p:nvPr/>
        </p:nvCxnSpPr>
        <p:spPr>
          <a:xfrm>
            <a:off x="8055863" y="4564684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01" name="Google Shape;901;p35"/>
          <p:cNvSpPr/>
          <p:nvPr/>
        </p:nvSpPr>
        <p:spPr>
          <a:xfrm>
            <a:off x="7726679" y="4729276"/>
            <a:ext cx="3916375" cy="662025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5"/>
          <p:cNvSpPr txBox="1"/>
          <p:nvPr/>
        </p:nvSpPr>
        <p:spPr>
          <a:xfrm>
            <a:off x="7891271" y="4729276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903" name="Google Shape;903;p35"/>
          <p:cNvSpPr txBox="1"/>
          <p:nvPr/>
        </p:nvSpPr>
        <p:spPr>
          <a:xfrm>
            <a:off x="8321040" y="4729276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reviewRepository.save(review)</a:t>
            </a:r>
            <a:endParaRPr/>
          </a:p>
        </p:txBody>
      </p:sp>
      <p:cxnSp>
        <p:nvCxnSpPr>
          <p:cNvPr id="904" name="Google Shape;904;p35"/>
          <p:cNvCxnSpPr/>
          <p:nvPr/>
        </p:nvCxnSpPr>
        <p:spPr>
          <a:xfrm>
            <a:off x="8055863" y="5391302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05" name="Google Shape;905;p35"/>
          <p:cNvSpPr/>
          <p:nvPr/>
        </p:nvSpPr>
        <p:spPr>
          <a:xfrm>
            <a:off x="7726679" y="5555894"/>
            <a:ext cx="3916375" cy="662025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5"/>
          <p:cNvSpPr txBox="1"/>
          <p:nvPr/>
        </p:nvSpPr>
        <p:spPr>
          <a:xfrm>
            <a:off x="7891271" y="5555894"/>
            <a:ext cx="411480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907" name="Google Shape;907;p35"/>
          <p:cNvSpPr txBox="1"/>
          <p:nvPr/>
        </p:nvSpPr>
        <p:spPr>
          <a:xfrm>
            <a:off x="8321040" y="5555894"/>
            <a:ext cx="3230575" cy="6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order_item_id unique (주문 항목당 1개)</a:t>
            </a:r>
            <a:endParaRPr/>
          </a:p>
        </p:txBody>
      </p:sp>
      <p:sp>
        <p:nvSpPr>
          <p:cNvPr id="908" name="Google Shape;908;p35"/>
          <p:cNvSpPr/>
          <p:nvPr/>
        </p:nvSpPr>
        <p:spPr>
          <a:xfrm>
            <a:off x="548640" y="1920240"/>
            <a:ext cx="6903720" cy="429107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5"/>
          <p:cNvSpPr txBox="1"/>
          <p:nvPr/>
        </p:nvSpPr>
        <p:spPr>
          <a:xfrm>
            <a:off x="749808" y="2066544"/>
            <a:ext cx="6583680" cy="407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ReviewService.java / saveReview()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34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@Transactional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35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Long saveReview(Long orderItemId, String customerLoginId, int rating,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String content, MultipartFile reviewImageFile) throws IOException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주문 항목 조회 / 주문자 정보 확인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47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(!orderCustomer.getCustomerId().equals(customerLoginId))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throw new IllegalStateException(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"본인이 주문한 상품에 대해서만 후기를 작성할 수 있습니다.");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49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배송완료 상태 확인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58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(reviewRepository.existsByOrderItemId(orderItemId))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59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throw new IllegalStateException("이미 후기를 작성한 상품입니다.");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작성 회원 조회 / Review 값 설정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75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(reviewImageFile != null &amp;&amp; !reviewImageFile.isEmpty())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76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String savedFileName = saveFile(reviewImageFile, uploadDir);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77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review.setReviewImage(savedFileName);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80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return reviewRepository.save(review).getId();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81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ReviewRepository.java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18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boolean existsByOrderItemId(Long orderItemId);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Review.java / 주문 항목과 1:1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28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@OneToOne(fetch = FetchType.LAZY)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29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@JoinColumn(name = "order_item_id", unique = true, nullable = false)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private OrderItem orderItem;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REVIEW LIST</a:t>
            </a:r>
            <a:endParaRPr/>
          </a:p>
        </p:txBody>
      </p:sp>
      <p:sp>
        <p:nvSpPr>
          <p:cNvPr id="915" name="Google Shape;915;p3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상세 — 후기 탭</a:t>
            </a:r>
            <a:endParaRPr/>
          </a:p>
        </p:txBody>
      </p:sp>
      <p:sp>
        <p:nvSpPr>
          <p:cNvPr id="916" name="Google Shape;916;p36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917" name="Google Shape;917;p36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918" name="Google Shape;918;p36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919" name="Google Shape;919;p36"/>
          <p:cNvSpPr/>
          <p:nvPr/>
        </p:nvSpPr>
        <p:spPr>
          <a:xfrm>
            <a:off x="636403" y="1399032"/>
            <a:ext cx="10918887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0" name="Google Shape;920;p36" descr="상품 상세 — 후기 탭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691" y="1417320"/>
            <a:ext cx="10882311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7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REVIEW LIST</a:t>
            </a:r>
            <a:endParaRPr/>
          </a:p>
        </p:txBody>
      </p:sp>
      <p:sp>
        <p:nvSpPr>
          <p:cNvPr id="926" name="Google Shape;926;p37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조회 / 댓글 / 추천</a:t>
            </a:r>
            <a:endParaRPr/>
          </a:p>
        </p:txBody>
      </p:sp>
      <p:sp>
        <p:nvSpPr>
          <p:cNvPr id="927" name="Google Shape;927;p37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상품 상세의 후기 탭에서 평균 별점과 후기 목록을 보고 댓글과 추천을 남길 수 있습니다.</a:t>
            </a:r>
            <a:endParaRPr/>
          </a:p>
        </p:txBody>
      </p:sp>
      <p:sp>
        <p:nvSpPr>
          <p:cNvPr id="928" name="Google Shape;928;p37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929" name="Google Shape;929;p37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930" name="Google Shape;930;p37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cxnSp>
        <p:nvCxnSpPr>
          <p:cNvPr id="931" name="Google Shape;931;p37"/>
          <p:cNvCxnSpPr/>
          <p:nvPr/>
        </p:nvCxnSpPr>
        <p:spPr>
          <a:xfrm>
            <a:off x="548640" y="1920240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32" name="Google Shape;932;p37"/>
          <p:cNvSpPr txBox="1"/>
          <p:nvPr/>
        </p:nvSpPr>
        <p:spPr>
          <a:xfrm>
            <a:off x="548640" y="2057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탭 데이터</a:t>
            </a:r>
            <a:endParaRPr/>
          </a:p>
        </p:txBody>
      </p:sp>
      <p:sp>
        <p:nvSpPr>
          <p:cNvPr id="933" name="Google Shape;933;p37"/>
          <p:cNvSpPr txBox="1"/>
          <p:nvPr/>
        </p:nvSpPr>
        <p:spPr>
          <a:xfrm>
            <a:off x="2148840" y="2057400"/>
            <a:ext cx="4572000" cy="860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getProductDetail()이 후기 목록(최신순), 평균 별점, 후기 수, 후기별 댓글 / 추천 수 / 추천 여부를 Model에 담습니다.</a:t>
            </a:r>
            <a:endParaRPr/>
          </a:p>
        </p:txBody>
      </p:sp>
      <p:cxnSp>
        <p:nvCxnSpPr>
          <p:cNvPr id="934" name="Google Shape;934;p37"/>
          <p:cNvCxnSpPr/>
          <p:nvPr/>
        </p:nvCxnSpPr>
        <p:spPr>
          <a:xfrm>
            <a:off x="548640" y="296379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35" name="Google Shape;935;p37"/>
          <p:cNvSpPr txBox="1"/>
          <p:nvPr/>
        </p:nvSpPr>
        <p:spPr>
          <a:xfrm>
            <a:off x="548640" y="310095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카드</a:t>
            </a:r>
            <a:endParaRPr/>
          </a:p>
        </p:txBody>
      </p:sp>
      <p:sp>
        <p:nvSpPr>
          <p:cNvPr id="936" name="Google Shape;936;p37"/>
          <p:cNvSpPr txBox="1"/>
          <p:nvPr/>
        </p:nvSpPr>
        <p:spPr>
          <a:xfrm>
            <a:off x="2148840" y="310095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별점, 앞 두 글자만 보이는 작성자 아이디, 작성일, 내용, 첨부 사진을 보여줍니다.</a:t>
            </a:r>
            <a:endParaRPr/>
          </a:p>
        </p:txBody>
      </p:sp>
      <p:cxnSp>
        <p:nvCxnSpPr>
          <p:cNvPr id="937" name="Google Shape;937;p37"/>
          <p:cNvCxnSpPr/>
          <p:nvPr/>
        </p:nvCxnSpPr>
        <p:spPr>
          <a:xfrm>
            <a:off x="548640" y="380580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38" name="Google Shape;938;p37"/>
          <p:cNvSpPr txBox="1"/>
          <p:nvPr/>
        </p:nvSpPr>
        <p:spPr>
          <a:xfrm>
            <a:off x="548640" y="394296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추천</a:t>
            </a:r>
            <a:endParaRPr/>
          </a:p>
        </p:txBody>
      </p:sp>
      <p:sp>
        <p:nvSpPr>
          <p:cNvPr id="939" name="Google Shape;939;p37"/>
          <p:cNvSpPr txBox="1"/>
          <p:nvPr/>
        </p:nvSpPr>
        <p:spPr>
          <a:xfrm>
            <a:off x="2148840" y="394296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다른 사람의 후기에서 누르면 POST /reviews/{reviewId}/recommend. 이미 추천했으면 취소, 처음이면 저장합니다.</a:t>
            </a:r>
            <a:endParaRPr/>
          </a:p>
        </p:txBody>
      </p:sp>
      <p:cxnSp>
        <p:nvCxnSpPr>
          <p:cNvPr id="940" name="Google Shape;940;p37"/>
          <p:cNvCxnSpPr/>
          <p:nvPr/>
        </p:nvCxnSpPr>
        <p:spPr>
          <a:xfrm>
            <a:off x="548640" y="464781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41" name="Google Shape;941;p37"/>
          <p:cNvSpPr txBox="1"/>
          <p:nvPr/>
        </p:nvSpPr>
        <p:spPr>
          <a:xfrm>
            <a:off x="548640" y="4784979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댓글</a:t>
            </a:r>
            <a:endParaRPr/>
          </a:p>
        </p:txBody>
      </p:sp>
      <p:sp>
        <p:nvSpPr>
          <p:cNvPr id="942" name="Google Shape;942;p37"/>
          <p:cNvSpPr txBox="1"/>
          <p:nvPr/>
        </p:nvSpPr>
        <p:spPr>
          <a:xfrm>
            <a:off x="2148840" y="4784979"/>
            <a:ext cx="4572000" cy="65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로그인하면 입력란에서 등록합니다. 수정 / 삭제는 작성자 본인만 할 수 있습니다.</a:t>
            </a:r>
            <a:endParaRPr/>
          </a:p>
        </p:txBody>
      </p:sp>
      <p:cxnSp>
        <p:nvCxnSpPr>
          <p:cNvPr id="943" name="Google Shape;943;p37"/>
          <p:cNvCxnSpPr/>
          <p:nvPr/>
        </p:nvCxnSpPr>
        <p:spPr>
          <a:xfrm>
            <a:off x="548640" y="5489829"/>
            <a:ext cx="617220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44" name="Google Shape;944;p37"/>
          <p:cNvSpPr txBox="1"/>
          <p:nvPr/>
        </p:nvSpPr>
        <p:spPr>
          <a:xfrm>
            <a:off x="7178040" y="1920240"/>
            <a:ext cx="446501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945" name="Google Shape;945;p37"/>
          <p:cNvSpPr/>
          <p:nvPr/>
        </p:nvSpPr>
        <p:spPr>
          <a:xfrm>
            <a:off x="7178040" y="2249424"/>
            <a:ext cx="446501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7"/>
          <p:cNvSpPr txBox="1"/>
          <p:nvPr/>
        </p:nvSpPr>
        <p:spPr>
          <a:xfrm>
            <a:off x="734263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47" name="Google Shape;947;p37"/>
          <p:cNvSpPr txBox="1"/>
          <p:nvPr/>
        </p:nvSpPr>
        <p:spPr>
          <a:xfrm>
            <a:off x="7772400" y="2249424"/>
            <a:ext cx="377921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추천 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fetch POST /reviews/{reviewId}/recommend</a:t>
            </a:r>
            <a:endParaRPr/>
          </a:p>
        </p:txBody>
      </p:sp>
      <p:cxnSp>
        <p:nvCxnSpPr>
          <p:cNvPr id="948" name="Google Shape;948;p37"/>
          <p:cNvCxnSpPr/>
          <p:nvPr/>
        </p:nvCxnSpPr>
        <p:spPr>
          <a:xfrm>
            <a:off x="750722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49" name="Google Shape;949;p37"/>
          <p:cNvSpPr/>
          <p:nvPr/>
        </p:nvSpPr>
        <p:spPr>
          <a:xfrm>
            <a:off x="7178040" y="3181350"/>
            <a:ext cx="446501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7"/>
          <p:cNvSpPr txBox="1"/>
          <p:nvPr/>
        </p:nvSpPr>
        <p:spPr>
          <a:xfrm>
            <a:off x="734263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951" name="Google Shape;951;p37"/>
          <p:cNvSpPr txBox="1"/>
          <p:nvPr/>
        </p:nvSpPr>
        <p:spPr>
          <a:xfrm>
            <a:off x="7772400" y="3181350"/>
            <a:ext cx="377921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toggleRecommend()</a:t>
            </a:r>
            <a:endParaRPr/>
          </a:p>
        </p:txBody>
      </p:sp>
      <p:cxnSp>
        <p:nvCxnSpPr>
          <p:cNvPr id="952" name="Google Shape;952;p37"/>
          <p:cNvCxnSpPr/>
          <p:nvPr/>
        </p:nvCxnSpPr>
        <p:spPr>
          <a:xfrm>
            <a:off x="750722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53" name="Google Shape;953;p37"/>
          <p:cNvSpPr/>
          <p:nvPr/>
        </p:nvSpPr>
        <p:spPr>
          <a:xfrm>
            <a:off x="7178040" y="4113275"/>
            <a:ext cx="446501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7"/>
          <p:cNvSpPr txBox="1"/>
          <p:nvPr/>
        </p:nvSpPr>
        <p:spPr>
          <a:xfrm>
            <a:off x="734263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55" name="Google Shape;955;p37"/>
          <p:cNvSpPr txBox="1"/>
          <p:nvPr/>
        </p:nvSpPr>
        <p:spPr>
          <a:xfrm>
            <a:off x="7772400" y="4113275"/>
            <a:ext cx="377921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있으면 / 없으면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delete / save</a:t>
            </a:r>
            <a:endParaRPr/>
          </a:p>
        </p:txBody>
      </p:sp>
      <p:cxnSp>
        <p:nvCxnSpPr>
          <p:cNvPr id="956" name="Google Shape;956;p37"/>
          <p:cNvCxnSpPr/>
          <p:nvPr/>
        </p:nvCxnSpPr>
        <p:spPr>
          <a:xfrm>
            <a:off x="750722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57" name="Google Shape;957;p37"/>
          <p:cNvSpPr/>
          <p:nvPr/>
        </p:nvSpPr>
        <p:spPr>
          <a:xfrm>
            <a:off x="7178040" y="5045202"/>
            <a:ext cx="446501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7"/>
          <p:cNvSpPr txBox="1"/>
          <p:nvPr/>
        </p:nvSpPr>
        <p:spPr>
          <a:xfrm>
            <a:off x="734263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959" name="Google Shape;959;p37"/>
          <p:cNvSpPr txBox="1"/>
          <p:nvPr/>
        </p:nvSpPr>
        <p:spPr>
          <a:xfrm>
            <a:off x="7772400" y="5045202"/>
            <a:ext cx="377921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Entity → DB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ReviewRecommend (review_id, customer_id) unique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8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REVIEW  /  COMMENT / RECOMMEND</a:t>
            </a:r>
            <a:endParaRPr/>
          </a:p>
        </p:txBody>
      </p:sp>
      <p:sp>
        <p:nvSpPr>
          <p:cNvPr id="965" name="Google Shape;965;p38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댓글 등록 / 추천 코드</a:t>
            </a:r>
            <a:endParaRPr/>
          </a:p>
        </p:txBody>
      </p:sp>
      <p:sp>
        <p:nvSpPr>
          <p:cNvPr id="966" name="Google Shape;966;p38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댓글은 후기와 회원을 연결해 저장합니다. 추천은 처음 누르면 등록되고 다시 누르면 취소됩니다</a:t>
            </a:r>
            <a:endParaRPr/>
          </a:p>
        </p:txBody>
      </p:sp>
      <p:sp>
        <p:nvSpPr>
          <p:cNvPr id="967" name="Google Shape;967;p38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968" name="Google Shape;968;p38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969" name="Google Shape;969;p38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  <p:sp>
        <p:nvSpPr>
          <p:cNvPr id="970" name="Google Shape;970;p38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971" name="Google Shape;971;p38"/>
          <p:cNvSpPr/>
          <p:nvPr/>
        </p:nvSpPr>
        <p:spPr>
          <a:xfrm>
            <a:off x="7726679" y="2249424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8"/>
          <p:cNvSpPr txBox="1"/>
          <p:nvPr/>
        </p:nvSpPr>
        <p:spPr>
          <a:xfrm>
            <a:off x="789127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73" name="Google Shape;973;p38"/>
          <p:cNvSpPr txBox="1"/>
          <p:nvPr/>
        </p:nvSpPr>
        <p:spPr>
          <a:xfrm>
            <a:off x="8321040" y="2249424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댓글 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POST /reviews/{reviewId}/comments</a:t>
            </a:r>
            <a:endParaRPr/>
          </a:p>
        </p:txBody>
      </p:sp>
      <p:cxnSp>
        <p:nvCxnSpPr>
          <p:cNvPr id="974" name="Google Shape;974;p38"/>
          <p:cNvCxnSpPr/>
          <p:nvPr/>
        </p:nvCxnSpPr>
        <p:spPr>
          <a:xfrm>
            <a:off x="805586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75" name="Google Shape;975;p38"/>
          <p:cNvSpPr/>
          <p:nvPr/>
        </p:nvSpPr>
        <p:spPr>
          <a:xfrm>
            <a:off x="7726679" y="3181350"/>
            <a:ext cx="391637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8"/>
          <p:cNvSpPr txBox="1"/>
          <p:nvPr/>
        </p:nvSpPr>
        <p:spPr>
          <a:xfrm>
            <a:off x="789127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977" name="Google Shape;977;p38"/>
          <p:cNvSpPr txBox="1"/>
          <p:nvPr/>
        </p:nvSpPr>
        <p:spPr>
          <a:xfrm>
            <a:off x="8321040" y="3181350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댓글 저장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reviewCommentRepository.save(comment)</a:t>
            </a:r>
            <a:endParaRPr/>
          </a:p>
        </p:txBody>
      </p:sp>
      <p:cxnSp>
        <p:nvCxnSpPr>
          <p:cNvPr id="978" name="Google Shape;978;p38"/>
          <p:cNvCxnSpPr/>
          <p:nvPr/>
        </p:nvCxnSpPr>
        <p:spPr>
          <a:xfrm>
            <a:off x="805586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79" name="Google Shape;979;p38"/>
          <p:cNvSpPr/>
          <p:nvPr/>
        </p:nvSpPr>
        <p:spPr>
          <a:xfrm>
            <a:off x="7726679" y="4113275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8"/>
          <p:cNvSpPr txBox="1"/>
          <p:nvPr/>
        </p:nvSpPr>
        <p:spPr>
          <a:xfrm>
            <a:off x="789127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81" name="Google Shape;981;p38"/>
          <p:cNvSpPr txBox="1"/>
          <p:nvPr/>
        </p:nvSpPr>
        <p:spPr>
          <a:xfrm>
            <a:off x="8321040" y="4113275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추천 토글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있으면 delete / 없으면 save</a:t>
            </a:r>
            <a:endParaRPr/>
          </a:p>
        </p:txBody>
      </p:sp>
      <p:cxnSp>
        <p:nvCxnSpPr>
          <p:cNvPr id="982" name="Google Shape;982;p38"/>
          <p:cNvCxnSpPr/>
          <p:nvPr/>
        </p:nvCxnSpPr>
        <p:spPr>
          <a:xfrm>
            <a:off x="805586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983" name="Google Shape;983;p38"/>
          <p:cNvSpPr/>
          <p:nvPr/>
        </p:nvSpPr>
        <p:spPr>
          <a:xfrm>
            <a:off x="7726679" y="5045202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8"/>
          <p:cNvSpPr txBox="1"/>
          <p:nvPr/>
        </p:nvSpPr>
        <p:spPr>
          <a:xfrm>
            <a:off x="789127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985" name="Google Shape;985;p38"/>
          <p:cNvSpPr txBox="1"/>
          <p:nvPr/>
        </p:nvSpPr>
        <p:spPr>
          <a:xfrm>
            <a:off x="8321040" y="5045202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본인 후기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추천 처리 없이 돌아감</a:t>
            </a:r>
            <a:endParaRPr/>
          </a:p>
        </p:txBody>
      </p:sp>
      <p:sp>
        <p:nvSpPr>
          <p:cNvPr id="986" name="Google Shape;986;p38"/>
          <p:cNvSpPr/>
          <p:nvPr/>
        </p:nvSpPr>
        <p:spPr>
          <a:xfrm>
            <a:off x="548640" y="1920240"/>
            <a:ext cx="6903720" cy="412851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8"/>
          <p:cNvSpPr txBox="1"/>
          <p:nvPr/>
        </p:nvSpPr>
        <p:spPr>
          <a:xfrm>
            <a:off x="749808" y="2066544"/>
            <a:ext cx="6583680" cy="390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ReviewCommentService.java / saveComment()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Long saveComment(Long reviewId, String customerId, String content)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내용 확인 / 후기 / 회원 조회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48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ReviewComment comment = new ReviewComment();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후기 / 회원 / 내용 설정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53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reviewCommentRepository.save(comment);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55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review.getProduct().getId();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8823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ReviewRecommendService.java / toggleRecommend()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Long toggleRecommend(Long reviewId, String customerId)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후기 / 회원 조회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36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 (review.getCustomer().getCustomerId().equals(customerId))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return review.getProduct().getId();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38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reviewRecommendRepository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.findByReview_IdAndCustomer_CustomerId(reviewId, customerId)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.ifPresentOrElse(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44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    reviewRecommendRepository::delete,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() -&gt;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48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ReviewRecommend recommend = new ReviewRecommend();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49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recommend.setReview(review);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recommend.setCustomer(customer);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51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reviewRecommendRepository.save(recommend);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    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    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review.getProduct().getId();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55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9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1000"/>
              <a:buNone/>
            </a:pPr>
            <a:r>
              <a:rPr lang="en-US" sz="1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993" name="Google Shape;993;p39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</a:pPr>
            <a:r>
              <a:rPr lang="en-US" sz="40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994" name="Google Shape;994;p39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400"/>
              <a:buNone/>
            </a:pPr>
            <a:r>
              <a:rPr lang="en-US" sz="14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고객센터에서 문의를 남기고, 내 문의와 관리자 답변을 확인하는 과정입니다.</a:t>
            </a:r>
            <a:endParaRPr/>
          </a:p>
        </p:txBody>
      </p:sp>
      <p:sp>
        <p:nvSpPr>
          <p:cNvPr id="995" name="Google Shape;995;p39"/>
          <p:cNvSpPr txBox="1"/>
          <p:nvPr/>
        </p:nvSpPr>
        <p:spPr>
          <a:xfrm>
            <a:off x="1975103" y="3913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고객센터 문의</a:t>
            </a:r>
            <a:endParaRPr/>
          </a:p>
        </p:txBody>
      </p:sp>
      <p:sp>
        <p:nvSpPr>
          <p:cNvPr id="996" name="Google Shape;996;p39"/>
          <p:cNvSpPr txBox="1"/>
          <p:nvPr/>
        </p:nvSpPr>
        <p:spPr>
          <a:xfrm>
            <a:off x="7086600" y="3767328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IN THIS SECTION</a:t>
            </a:r>
            <a:endParaRPr/>
          </a:p>
        </p:txBody>
      </p:sp>
      <p:cxnSp>
        <p:nvCxnSpPr>
          <p:cNvPr id="997" name="Google Shape;997;p39"/>
          <p:cNvCxnSpPr/>
          <p:nvPr/>
        </p:nvCxnSpPr>
        <p:spPr>
          <a:xfrm>
            <a:off x="7086600" y="4041648"/>
            <a:ext cx="4553712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8" name="Google Shape;998;p39"/>
          <p:cNvSpPr txBox="1"/>
          <p:nvPr/>
        </p:nvSpPr>
        <p:spPr>
          <a:xfrm>
            <a:off x="7086600" y="40416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등록</a:t>
            </a:r>
            <a:endParaRPr/>
          </a:p>
        </p:txBody>
      </p:sp>
      <p:sp>
        <p:nvSpPr>
          <p:cNvPr id="999" name="Google Shape;999;p39"/>
          <p:cNvSpPr txBox="1"/>
          <p:nvPr/>
        </p:nvSpPr>
        <p:spPr>
          <a:xfrm>
            <a:off x="9592056" y="404164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WRITE QNA</a:t>
            </a:r>
            <a:endParaRPr/>
          </a:p>
        </p:txBody>
      </p:sp>
      <p:cxnSp>
        <p:nvCxnSpPr>
          <p:cNvPr id="1000" name="Google Shape;1000;p39"/>
          <p:cNvCxnSpPr/>
          <p:nvPr/>
        </p:nvCxnSpPr>
        <p:spPr>
          <a:xfrm>
            <a:off x="7086600" y="4389120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01" name="Google Shape;1001;p39"/>
          <p:cNvSpPr txBox="1"/>
          <p:nvPr/>
        </p:nvSpPr>
        <p:spPr>
          <a:xfrm>
            <a:off x="7086600" y="43891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내 문의 확인</a:t>
            </a:r>
            <a:endParaRPr/>
          </a:p>
        </p:txBody>
      </p:sp>
      <p:sp>
        <p:nvSpPr>
          <p:cNvPr id="1002" name="Google Shape;1002;p39"/>
          <p:cNvSpPr txBox="1"/>
          <p:nvPr/>
        </p:nvSpPr>
        <p:spPr>
          <a:xfrm>
            <a:off x="9592056" y="4389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MY QNA</a:t>
            </a:r>
            <a:endParaRPr/>
          </a:p>
        </p:txBody>
      </p:sp>
      <p:cxnSp>
        <p:nvCxnSpPr>
          <p:cNvPr id="1003" name="Google Shape;1003;p39"/>
          <p:cNvCxnSpPr/>
          <p:nvPr/>
        </p:nvCxnSpPr>
        <p:spPr>
          <a:xfrm>
            <a:off x="7086600" y="4736592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04" name="Google Shape;1004;p39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005" name="Google Shape;1005;p39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1006" name="Google Shape;1006;p39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0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Q&amp;A  /  WRITE QNA</a:t>
            </a:r>
            <a:endParaRPr/>
          </a:p>
        </p:txBody>
      </p:sp>
      <p:sp>
        <p:nvSpPr>
          <p:cNvPr id="1012" name="Google Shape;1012;p40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등록 화면</a:t>
            </a:r>
            <a:endParaRPr/>
          </a:p>
        </p:txBody>
      </p:sp>
      <p:sp>
        <p:nvSpPr>
          <p:cNvPr id="1013" name="Google Shape;1013;p40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014" name="Google Shape;1014;p40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1015" name="Google Shape;1015;p40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pic>
        <p:nvPicPr>
          <p:cNvPr id="1016" name="Google Shape;1016;p40" descr="Q&amp;A 등록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8370" y="539496"/>
            <a:ext cx="8624685" cy="555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1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Q&amp;A  /  QNA CODE</a:t>
            </a:r>
            <a:endParaRPr/>
          </a:p>
        </p:txBody>
      </p:sp>
      <p:sp>
        <p:nvSpPr>
          <p:cNvPr id="1022" name="Google Shape;1022;p41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등록 코드 ① View / Controller</a:t>
            </a:r>
            <a:endParaRPr/>
          </a:p>
        </p:txBody>
      </p:sp>
      <p:sp>
        <p:nvSpPr>
          <p:cNvPr id="1023" name="Google Shape;1023;p41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폼 값은 Qna 객체로 받고, Controller가 작성 회원을 연결한 뒤 Service에 저장을 맡깁니다.</a:t>
            </a:r>
            <a:endParaRPr/>
          </a:p>
        </p:txBody>
      </p:sp>
      <p:sp>
        <p:nvSpPr>
          <p:cNvPr id="1024" name="Google Shape;1024;p41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025" name="Google Shape;1025;p41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1026" name="Google Shape;1026;p41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/>
          </a:p>
        </p:txBody>
      </p:sp>
      <p:sp>
        <p:nvSpPr>
          <p:cNvPr id="1027" name="Google Shape;1027;p41"/>
          <p:cNvSpPr/>
          <p:nvPr/>
        </p:nvSpPr>
        <p:spPr>
          <a:xfrm>
            <a:off x="548640" y="1920240"/>
            <a:ext cx="6903720" cy="362559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41"/>
          <p:cNvSpPr txBox="1"/>
          <p:nvPr/>
        </p:nvSpPr>
        <p:spPr>
          <a:xfrm>
            <a:off x="749808" y="2066544"/>
            <a:ext cx="6583680" cy="340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qna.js / 화면에서 입력 확인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18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qnaWriteForm.addEventListener("submit", (e) =&gt;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분류 / 제목 / 내용 입력칸 찾기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if(category.value === "")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26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alert("문의분류를 선택해주세요.");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e.preventDefault();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28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return;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29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제목 / 내용 빈 값 확인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43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if(!confirm("문의를 등록하시겠습니까?"))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44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e.preventDefault();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46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marL="0" marR="0" lvl="0" indent="0" algn="l" rtl="0">
              <a:lnSpc>
                <a:spcPct val="136842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SupportController.java / qnaWrite()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64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@PostMapping("/support/qna/write")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65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String qnaWrite(Qna qna, Principal principal)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67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Customer customer = customerService.selectCustomer(principal.getName());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69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qna.setCustomer(customer);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70  </a:t>
            </a:r>
            <a:r>
              <a:rPr lang="en-US" sz="10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qnaService.saveQna(qna);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72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"redirect:/support?qna=true";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73  </a:t>
            </a:r>
            <a:r>
              <a:rPr lang="en-US" sz="10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029" name="Google Shape;1029;p41"/>
          <p:cNvCxnSpPr/>
          <p:nvPr/>
        </p:nvCxnSpPr>
        <p:spPr>
          <a:xfrm>
            <a:off x="7726679" y="1920240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30" name="Google Shape;1030;p41"/>
          <p:cNvSpPr txBox="1"/>
          <p:nvPr/>
        </p:nvSpPr>
        <p:spPr>
          <a:xfrm>
            <a:off x="7726679" y="20574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/>
          </a:p>
        </p:txBody>
      </p:sp>
      <p:sp>
        <p:nvSpPr>
          <p:cNvPr id="1031" name="Google Shape;1031;p41"/>
          <p:cNvSpPr txBox="1"/>
          <p:nvPr/>
        </p:nvSpPr>
        <p:spPr>
          <a:xfrm>
            <a:off x="8915400" y="2057400"/>
            <a:ext cx="2727655" cy="808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문의분류(필수), 상품코드(선택, 직접 입력하는 문자열), 제목 / 내용(필수)을 적습니다.</a:t>
            </a:r>
            <a:endParaRPr/>
          </a:p>
        </p:txBody>
      </p:sp>
      <p:cxnSp>
        <p:nvCxnSpPr>
          <p:cNvPr id="1032" name="Google Shape;1032;p41"/>
          <p:cNvCxnSpPr/>
          <p:nvPr/>
        </p:nvCxnSpPr>
        <p:spPr>
          <a:xfrm>
            <a:off x="7726679" y="2911221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33" name="Google Shape;1033;p41"/>
          <p:cNvSpPr txBox="1"/>
          <p:nvPr/>
        </p:nvSpPr>
        <p:spPr>
          <a:xfrm>
            <a:off x="7726679" y="3048381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화면에서 확인</a:t>
            </a:r>
            <a:endParaRPr/>
          </a:p>
        </p:txBody>
      </p:sp>
      <p:sp>
        <p:nvSpPr>
          <p:cNvPr id="1034" name="Google Shape;1034;p41"/>
          <p:cNvSpPr txBox="1"/>
          <p:nvPr/>
        </p:nvSpPr>
        <p:spPr>
          <a:xfrm>
            <a:off x="8915400" y="3048381"/>
            <a:ext cx="2727655" cy="808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등록하기를 누르면 qna.js가 분류 / 제목 / 내용이 비었는지 보고, 확인 창에서 등록을 고르면 폼을 보냅니다.</a:t>
            </a:r>
            <a:endParaRPr/>
          </a:p>
        </p:txBody>
      </p:sp>
      <p:cxnSp>
        <p:nvCxnSpPr>
          <p:cNvPr id="1035" name="Google Shape;1035;p41"/>
          <p:cNvCxnSpPr/>
          <p:nvPr/>
        </p:nvCxnSpPr>
        <p:spPr>
          <a:xfrm>
            <a:off x="7726679" y="3902202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36" name="Google Shape;1036;p41"/>
          <p:cNvSpPr txBox="1"/>
          <p:nvPr/>
        </p:nvSpPr>
        <p:spPr>
          <a:xfrm>
            <a:off x="7726679" y="403936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 연결</a:t>
            </a:r>
            <a:endParaRPr/>
          </a:p>
        </p:txBody>
      </p:sp>
      <p:sp>
        <p:nvSpPr>
          <p:cNvPr id="1037" name="Google Shape;1037;p41"/>
          <p:cNvSpPr txBox="1"/>
          <p:nvPr/>
        </p:nvSpPr>
        <p:spPr>
          <a:xfrm>
            <a:off x="8915400" y="4039362"/>
            <a:ext cx="2727655" cy="808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POST /support/qna/write → qnaWrite()가 로그인 회원을 찾아 qna.setCustomer()로 연결합니다.</a:t>
            </a:r>
            <a:endParaRPr/>
          </a:p>
        </p:txBody>
      </p:sp>
      <p:cxnSp>
        <p:nvCxnSpPr>
          <p:cNvPr id="1038" name="Google Shape;1038;p41"/>
          <p:cNvCxnSpPr/>
          <p:nvPr/>
        </p:nvCxnSpPr>
        <p:spPr>
          <a:xfrm>
            <a:off x="7726679" y="4893183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Q&amp;A  /  QNA CODE</a:t>
            </a:r>
            <a:endParaRPr/>
          </a:p>
        </p:txBody>
      </p:sp>
      <p:sp>
        <p:nvSpPr>
          <p:cNvPr id="1044" name="Google Shape;1044;p4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등록 코드 ② Service / Repository / Entity</a:t>
            </a:r>
            <a:endParaRPr/>
          </a:p>
        </p:txBody>
      </p:sp>
      <p:sp>
        <p:nvSpPr>
          <p:cNvPr id="1045" name="Google Shape;1045;p42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작성일을 넣어 저장합니다. productId는 Product와 연관관계가 없는 문자열이고, 답변 칸은 비어 있습니다.</a:t>
            </a:r>
            <a:endParaRPr/>
          </a:p>
        </p:txBody>
      </p:sp>
      <p:sp>
        <p:nvSpPr>
          <p:cNvPr id="1046" name="Google Shape;1046;p42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047" name="Google Shape;1047;p42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1048" name="Google Shape;1048;p42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1049" name="Google Shape;1049;p42"/>
          <p:cNvSpPr/>
          <p:nvPr/>
        </p:nvSpPr>
        <p:spPr>
          <a:xfrm>
            <a:off x="548640" y="1920240"/>
            <a:ext cx="6903720" cy="429107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42"/>
          <p:cNvSpPr txBox="1"/>
          <p:nvPr/>
        </p:nvSpPr>
        <p:spPr>
          <a:xfrm>
            <a:off x="749808" y="2066544"/>
            <a:ext cx="6583680" cy="407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QnaService.java / saveQna()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21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void saveQna(Qna qna)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22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qna.setCreateDate(LocalDateTime.now());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23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qnaRepository.save(qna);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24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QnaRepository.java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9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interface QnaRepository extends JpaRepository&lt;Qna, Long&gt;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save()는 JpaRepository가 제공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47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7777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Qna.java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@Entity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11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@Getter @Setter @ToString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12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class Qna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5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id (@Id)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19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@ManyToOne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20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private Customer customer;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23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private String category;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26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private String productId;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29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private String title;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32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@Column(columnDefinition = "text")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33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private String content;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36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@Column(columnDefinition = "text")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37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private String answer;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40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private LocalDateTime createDate;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43  </a:t>
            </a:r>
            <a:r>
              <a:rPr lang="en-US" sz="95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private LocalDateTime answerDate;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45  </a:t>
            </a:r>
            <a:r>
              <a:rPr lang="en-US" sz="95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051" name="Google Shape;1051;p42"/>
          <p:cNvCxnSpPr/>
          <p:nvPr/>
        </p:nvCxnSpPr>
        <p:spPr>
          <a:xfrm>
            <a:off x="7726679" y="1920240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2" name="Google Shape;1052;p42"/>
          <p:cNvSpPr txBox="1"/>
          <p:nvPr/>
        </p:nvSpPr>
        <p:spPr>
          <a:xfrm>
            <a:off x="7726679" y="20574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</p:txBody>
      </p:sp>
      <p:sp>
        <p:nvSpPr>
          <p:cNvPr id="1053" name="Google Shape;1053;p42"/>
          <p:cNvSpPr txBox="1"/>
          <p:nvPr/>
        </p:nvSpPr>
        <p:spPr>
          <a:xfrm>
            <a:off x="8915400" y="2057400"/>
            <a:ext cx="2727655" cy="62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QnaService.saveQna()가 작성일을 넣고 qnaRepository.save()로 저장합니다.</a:t>
            </a:r>
            <a:endParaRPr/>
          </a:p>
        </p:txBody>
      </p:sp>
      <p:cxnSp>
        <p:nvCxnSpPr>
          <p:cNvPr id="1054" name="Google Shape;1054;p42"/>
          <p:cNvCxnSpPr/>
          <p:nvPr/>
        </p:nvCxnSpPr>
        <p:spPr>
          <a:xfrm>
            <a:off x="7726679" y="2727198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5" name="Google Shape;1055;p42"/>
          <p:cNvSpPr txBox="1"/>
          <p:nvPr/>
        </p:nvSpPr>
        <p:spPr>
          <a:xfrm>
            <a:off x="7726679" y="2864358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답변 칸</a:t>
            </a:r>
            <a:endParaRPr/>
          </a:p>
        </p:txBody>
      </p:sp>
      <p:sp>
        <p:nvSpPr>
          <p:cNvPr id="1056" name="Google Shape;1056;p42"/>
          <p:cNvSpPr txBox="1"/>
          <p:nvPr/>
        </p:nvSpPr>
        <p:spPr>
          <a:xfrm>
            <a:off x="8915400" y="2864358"/>
            <a:ext cx="2727655" cy="62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answer와 answerDate는 비어 있다가 관리자가 답변할 때 채워집니다.</a:t>
            </a:r>
            <a:endParaRPr/>
          </a:p>
        </p:txBody>
      </p:sp>
      <p:cxnSp>
        <p:nvCxnSpPr>
          <p:cNvPr id="1057" name="Google Shape;1057;p42"/>
          <p:cNvCxnSpPr/>
          <p:nvPr/>
        </p:nvCxnSpPr>
        <p:spPr>
          <a:xfrm>
            <a:off x="7726679" y="3534156"/>
            <a:ext cx="3916376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43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Q&amp;A  /  MY QNA</a:t>
            </a:r>
            <a:endParaRPr/>
          </a:p>
        </p:txBody>
      </p:sp>
      <p:sp>
        <p:nvSpPr>
          <p:cNvPr id="1063" name="Google Shape;1063;p43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내 문의 상세 화면</a:t>
            </a:r>
            <a:endParaRPr/>
          </a:p>
        </p:txBody>
      </p:sp>
      <p:sp>
        <p:nvSpPr>
          <p:cNvPr id="1064" name="Google Shape;1064;p43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065" name="Google Shape;1065;p43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1066" name="Google Shape;1066;p43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  <p:sp>
        <p:nvSpPr>
          <p:cNvPr id="1067" name="Google Shape;1067;p43"/>
          <p:cNvSpPr/>
          <p:nvPr/>
        </p:nvSpPr>
        <p:spPr>
          <a:xfrm>
            <a:off x="1079032" y="1399032"/>
            <a:ext cx="10033630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8" name="Google Shape;1068;p43" descr="내 문의 상세 화면"/>
          <p:cNvPicPr preferRelativeResize="0"/>
          <p:nvPr/>
        </p:nvPicPr>
        <p:blipFill rotWithShape="1">
          <a:blip r:embed="rId3">
            <a:alphaModFix/>
          </a:blip>
          <a:srcRect t="6390" b="26118"/>
          <a:stretch/>
        </p:blipFill>
        <p:spPr>
          <a:xfrm>
            <a:off x="1097320" y="1417320"/>
            <a:ext cx="9997054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Q&amp;A  /  MY QNA</a:t>
            </a:r>
            <a:endParaRPr/>
          </a:p>
        </p:txBody>
      </p:sp>
      <p:sp>
        <p:nvSpPr>
          <p:cNvPr id="1074" name="Google Shape;1074;p4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내 문의 확인과 답변 보기</a:t>
            </a:r>
            <a:endParaRPr/>
          </a:p>
        </p:txBody>
      </p:sp>
      <p:sp>
        <p:nvSpPr>
          <p:cNvPr id="1075" name="Google Shape;1075;p44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내 문의 목록에서 상세를 열어 답변을 확인하고, 답변 전에는 수정 / 삭제할 수 있습니다.</a:t>
            </a:r>
            <a:endParaRPr/>
          </a:p>
        </p:txBody>
      </p:sp>
      <p:sp>
        <p:nvSpPr>
          <p:cNvPr id="1076" name="Google Shape;1076;p44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077" name="Google Shape;1077;p44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1078" name="Google Shape;1078;p44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cxnSp>
        <p:nvCxnSpPr>
          <p:cNvPr id="1079" name="Google Shape;1079;p44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0" name="Google Shape;1080;p44"/>
          <p:cNvSpPr txBox="1"/>
          <p:nvPr/>
        </p:nvSpPr>
        <p:spPr>
          <a:xfrm>
            <a:off x="548640" y="20574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내 문의 목록</a:t>
            </a:r>
            <a:endParaRPr/>
          </a:p>
        </p:txBody>
      </p:sp>
      <p:sp>
        <p:nvSpPr>
          <p:cNvPr id="1081" name="Google Shape;1081;p44"/>
          <p:cNvSpPr txBox="1"/>
          <p:nvPr/>
        </p:nvSpPr>
        <p:spPr>
          <a:xfrm>
            <a:off x="2377440" y="2057400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/support의 Q&amp;A 탭. 로그인한 회원의 문의만 10건씩, 전체 / 답변대기 / 답변완료와 제목으로 찾습니다. (getQnaList)</a:t>
            </a:r>
            <a:endParaRPr/>
          </a:p>
        </p:txBody>
      </p:sp>
      <p:cxnSp>
        <p:nvCxnSpPr>
          <p:cNvPr id="1082" name="Google Shape;1082;p44"/>
          <p:cNvCxnSpPr/>
          <p:nvPr/>
        </p:nvCxnSpPr>
        <p:spPr>
          <a:xfrm>
            <a:off x="548640" y="279730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3" name="Google Shape;1083;p44"/>
          <p:cNvSpPr txBox="1"/>
          <p:nvPr/>
        </p:nvSpPr>
        <p:spPr>
          <a:xfrm>
            <a:off x="548640" y="293446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상세</a:t>
            </a:r>
            <a:endParaRPr/>
          </a:p>
        </p:txBody>
      </p:sp>
      <p:sp>
        <p:nvSpPr>
          <p:cNvPr id="1084" name="Google Shape;1084;p44"/>
          <p:cNvSpPr txBox="1"/>
          <p:nvPr/>
        </p:nvSpPr>
        <p:spPr>
          <a:xfrm>
            <a:off x="2377440" y="2934462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/support/qna/detail/{id}. 다른 회원의 문의면 고객센터로 돌려보냅니다.</a:t>
            </a:r>
            <a:endParaRPr/>
          </a:p>
        </p:txBody>
      </p:sp>
      <p:cxnSp>
        <p:nvCxnSpPr>
          <p:cNvPr id="1085" name="Google Shape;1085;p44"/>
          <p:cNvCxnSpPr/>
          <p:nvPr/>
        </p:nvCxnSpPr>
        <p:spPr>
          <a:xfrm>
            <a:off x="548640" y="352882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6" name="Google Shape;1086;p44"/>
          <p:cNvSpPr txBox="1"/>
          <p:nvPr/>
        </p:nvSpPr>
        <p:spPr>
          <a:xfrm>
            <a:off x="548640" y="366598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답변 확인</a:t>
            </a:r>
            <a:endParaRPr/>
          </a:p>
        </p:txBody>
      </p:sp>
      <p:sp>
        <p:nvSpPr>
          <p:cNvPr id="1087" name="Google Shape;1087;p44"/>
          <p:cNvSpPr txBox="1"/>
          <p:nvPr/>
        </p:nvSpPr>
        <p:spPr>
          <a:xfrm>
            <a:off x="2377440" y="3665982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관리자가 답변하면 같은 문의의 답변과 답변일이 '답변' 영역에 나옵니다. 답변 전에는 '아직 등록된 답변이 없습니다.'가 나옵니다.</a:t>
            </a:r>
            <a:endParaRPr/>
          </a:p>
        </p:txBody>
      </p:sp>
      <p:cxnSp>
        <p:nvCxnSpPr>
          <p:cNvPr id="1088" name="Google Shape;1088;p44"/>
          <p:cNvCxnSpPr/>
          <p:nvPr/>
        </p:nvCxnSpPr>
        <p:spPr>
          <a:xfrm>
            <a:off x="548640" y="440588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9" name="Google Shape;1089;p44"/>
          <p:cNvSpPr txBox="1"/>
          <p:nvPr/>
        </p:nvSpPr>
        <p:spPr>
          <a:xfrm>
            <a:off x="548640" y="4543044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수정 / 삭제</a:t>
            </a:r>
            <a:endParaRPr/>
          </a:p>
        </p:txBody>
      </p:sp>
      <p:sp>
        <p:nvSpPr>
          <p:cNvPr id="1090" name="Google Shape;1090;p44"/>
          <p:cNvSpPr txBox="1"/>
          <p:nvPr/>
        </p:nvSpPr>
        <p:spPr>
          <a:xfrm>
            <a:off x="2377440" y="4543044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답변 전에만 버튼이 보이고, updateQna() / deleteQna()도 answer가 비어 있을 때만 처리합니다.</a:t>
            </a:r>
            <a:endParaRPr/>
          </a:p>
        </p:txBody>
      </p:sp>
      <p:cxnSp>
        <p:nvCxnSpPr>
          <p:cNvPr id="1091" name="Google Shape;1091;p44"/>
          <p:cNvCxnSpPr/>
          <p:nvPr/>
        </p:nvCxnSpPr>
        <p:spPr>
          <a:xfrm>
            <a:off x="548640" y="513740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5"/>
          <p:cNvSpPr txBox="1">
            <a:spLocks noGrp="1"/>
          </p:cNvSpPr>
          <p:nvPr>
            <p:ph type="body" idx="1"/>
          </p:nvPr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1000"/>
              <a:buNone/>
            </a:pPr>
            <a:r>
              <a:rPr lang="en-US" sz="110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097" name="Google Shape;1097;p45"/>
          <p:cNvSpPr txBox="1">
            <a:spLocks noGrp="1"/>
          </p:cNvSpPr>
          <p:nvPr>
            <p:ph type="title"/>
          </p:nvPr>
        </p:nvSpPr>
        <p:spPr>
          <a:xfrm>
            <a:off x="54864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4000"/>
              <a:buFont typeface="Arial"/>
              <a:buNone/>
            </a:pPr>
            <a:r>
              <a:rPr lang="en-US" sz="40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098" name="Google Shape;1098;p45"/>
          <p:cNvSpPr txBox="1">
            <a:spLocks noGrp="1"/>
          </p:cNvSpPr>
          <p:nvPr>
            <p:ph type="body" idx="2"/>
          </p:nvPr>
        </p:nvSpPr>
        <p:spPr>
          <a:xfrm>
            <a:off x="548640" y="4892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400"/>
              <a:buNone/>
            </a:pPr>
            <a:r>
              <a:rPr lang="en-US" sz="14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관리자 화면에서 상품을 등록하고, 상품 / 회원 / 주문을 관리하며 문의에 답변하는 부분입니다.</a:t>
            </a:r>
            <a:endParaRPr/>
          </a:p>
        </p:txBody>
      </p:sp>
      <p:sp>
        <p:nvSpPr>
          <p:cNvPr id="1099" name="Google Shape;1099;p45"/>
          <p:cNvSpPr txBox="1"/>
          <p:nvPr/>
        </p:nvSpPr>
        <p:spPr>
          <a:xfrm>
            <a:off x="2743200" y="391363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관리자</a:t>
            </a:r>
            <a:endParaRPr/>
          </a:p>
        </p:txBody>
      </p:sp>
      <p:sp>
        <p:nvSpPr>
          <p:cNvPr id="1100" name="Google Shape;1100;p45"/>
          <p:cNvSpPr txBox="1"/>
          <p:nvPr/>
        </p:nvSpPr>
        <p:spPr>
          <a:xfrm>
            <a:off x="7086600" y="3767328"/>
            <a:ext cx="45537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IN THIS SECTION</a:t>
            </a:r>
            <a:endParaRPr/>
          </a:p>
        </p:txBody>
      </p:sp>
      <p:cxnSp>
        <p:nvCxnSpPr>
          <p:cNvPr id="1101" name="Google Shape;1101;p45"/>
          <p:cNvCxnSpPr/>
          <p:nvPr/>
        </p:nvCxnSpPr>
        <p:spPr>
          <a:xfrm>
            <a:off x="7086600" y="4041648"/>
            <a:ext cx="4553712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02" name="Google Shape;1102;p45"/>
          <p:cNvSpPr txBox="1"/>
          <p:nvPr/>
        </p:nvSpPr>
        <p:spPr>
          <a:xfrm>
            <a:off x="7086600" y="404164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등록</a:t>
            </a:r>
            <a:endParaRPr/>
          </a:p>
        </p:txBody>
      </p:sp>
      <p:sp>
        <p:nvSpPr>
          <p:cNvPr id="1103" name="Google Shape;1103;p45"/>
          <p:cNvSpPr txBox="1"/>
          <p:nvPr/>
        </p:nvSpPr>
        <p:spPr>
          <a:xfrm>
            <a:off x="9592056" y="4041648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ADD PRODUCT</a:t>
            </a:r>
            <a:endParaRPr/>
          </a:p>
        </p:txBody>
      </p:sp>
      <p:cxnSp>
        <p:nvCxnSpPr>
          <p:cNvPr id="1104" name="Google Shape;1104;p45"/>
          <p:cNvCxnSpPr/>
          <p:nvPr/>
        </p:nvCxnSpPr>
        <p:spPr>
          <a:xfrm>
            <a:off x="7086600" y="4389120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05" name="Google Shape;1105;p45"/>
          <p:cNvSpPr txBox="1"/>
          <p:nvPr/>
        </p:nvSpPr>
        <p:spPr>
          <a:xfrm>
            <a:off x="7086600" y="438912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/ 회원 관리</a:t>
            </a:r>
            <a:endParaRPr/>
          </a:p>
        </p:txBody>
      </p:sp>
      <p:sp>
        <p:nvSpPr>
          <p:cNvPr id="1106" name="Google Shape;1106;p45"/>
          <p:cNvSpPr txBox="1"/>
          <p:nvPr/>
        </p:nvSpPr>
        <p:spPr>
          <a:xfrm>
            <a:off x="9592056" y="4389120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MANAGEMENT</a:t>
            </a:r>
            <a:endParaRPr/>
          </a:p>
        </p:txBody>
      </p:sp>
      <p:cxnSp>
        <p:nvCxnSpPr>
          <p:cNvPr id="1107" name="Google Shape;1107;p45"/>
          <p:cNvCxnSpPr/>
          <p:nvPr/>
        </p:nvCxnSpPr>
        <p:spPr>
          <a:xfrm>
            <a:off x="7086600" y="4736592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08" name="Google Shape;1108;p45"/>
          <p:cNvSpPr txBox="1"/>
          <p:nvPr/>
        </p:nvSpPr>
        <p:spPr>
          <a:xfrm>
            <a:off x="7086600" y="473659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관리</a:t>
            </a:r>
            <a:endParaRPr/>
          </a:p>
        </p:txBody>
      </p:sp>
      <p:sp>
        <p:nvSpPr>
          <p:cNvPr id="1109" name="Google Shape;1109;p45"/>
          <p:cNvSpPr txBox="1"/>
          <p:nvPr/>
        </p:nvSpPr>
        <p:spPr>
          <a:xfrm>
            <a:off x="9592056" y="4736592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ORDER STATUS</a:t>
            </a:r>
            <a:endParaRPr/>
          </a:p>
        </p:txBody>
      </p:sp>
      <p:cxnSp>
        <p:nvCxnSpPr>
          <p:cNvPr id="1110" name="Google Shape;1110;p45"/>
          <p:cNvCxnSpPr/>
          <p:nvPr/>
        </p:nvCxnSpPr>
        <p:spPr>
          <a:xfrm>
            <a:off x="7086600" y="5084064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11" name="Google Shape;1111;p45"/>
          <p:cNvSpPr txBox="1"/>
          <p:nvPr/>
        </p:nvSpPr>
        <p:spPr>
          <a:xfrm>
            <a:off x="7086600" y="508406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답변</a:t>
            </a:r>
            <a:endParaRPr/>
          </a:p>
        </p:txBody>
      </p:sp>
      <p:sp>
        <p:nvSpPr>
          <p:cNvPr id="1112" name="Google Shape;1112;p45"/>
          <p:cNvSpPr txBox="1"/>
          <p:nvPr/>
        </p:nvSpPr>
        <p:spPr>
          <a:xfrm>
            <a:off x="9592056" y="5084064"/>
            <a:ext cx="204825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QNA ANSWER</a:t>
            </a:r>
            <a:endParaRPr/>
          </a:p>
        </p:txBody>
      </p:sp>
      <p:cxnSp>
        <p:nvCxnSpPr>
          <p:cNvPr id="1113" name="Google Shape;1113;p45"/>
          <p:cNvCxnSpPr/>
          <p:nvPr/>
        </p:nvCxnSpPr>
        <p:spPr>
          <a:xfrm>
            <a:off x="7086600" y="5431536"/>
            <a:ext cx="4553712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14" name="Google Shape;1114;p45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115" name="Google Shape;1115;p45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116" name="Google Shape;1116;p45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ADD PRODUCT</a:t>
            </a:r>
            <a:endParaRPr/>
          </a:p>
        </p:txBody>
      </p:sp>
      <p:sp>
        <p:nvSpPr>
          <p:cNvPr id="1122" name="Google Shape;1122;p4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상품 등록 화면</a:t>
            </a:r>
            <a:endParaRPr/>
          </a:p>
        </p:txBody>
      </p:sp>
      <p:sp>
        <p:nvSpPr>
          <p:cNvPr id="1123" name="Google Shape;1123;p46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124" name="Google Shape;1124;p46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125" name="Google Shape;1125;p46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  <p:pic>
        <p:nvPicPr>
          <p:cNvPr id="1126" name="Google Shape;1126;p46" descr="관리자 상품 등록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322" y="398629"/>
            <a:ext cx="6967078" cy="5782715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46"/>
          <p:cNvSpPr/>
          <p:nvPr/>
        </p:nvSpPr>
        <p:spPr>
          <a:xfrm>
            <a:off x="4242789" y="3877733"/>
            <a:ext cx="811811" cy="22951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7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ADD PRODUCT</a:t>
            </a:r>
            <a:endParaRPr/>
          </a:p>
        </p:txBody>
      </p:sp>
      <p:sp>
        <p:nvSpPr>
          <p:cNvPr id="1133" name="Google Shape;1133;p47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상품 등록</a:t>
            </a:r>
            <a:endParaRPr/>
          </a:p>
        </p:txBody>
      </p:sp>
      <p:sp>
        <p:nvSpPr>
          <p:cNvPr id="1134" name="Google Shape;1134;p47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 폼을 multipart로 보내면 이미지는 파일로 저장하고, DB에는 상품 정보와 파일명을 저장합니다.</a:t>
            </a:r>
            <a:endParaRPr/>
          </a:p>
        </p:txBody>
      </p:sp>
      <p:sp>
        <p:nvSpPr>
          <p:cNvPr id="1135" name="Google Shape;1135;p47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136" name="Google Shape;1136;p47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137" name="Google Shape;1137;p47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cxnSp>
        <p:nvCxnSpPr>
          <p:cNvPr id="1138" name="Google Shape;1138;p47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9" name="Google Shape;1139;p47"/>
          <p:cNvSpPr txBox="1"/>
          <p:nvPr/>
        </p:nvSpPr>
        <p:spPr>
          <a:xfrm>
            <a:off x="548640" y="20574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등록 화면</a:t>
            </a:r>
            <a:endParaRPr/>
          </a:p>
        </p:txBody>
      </p:sp>
      <p:sp>
        <p:nvSpPr>
          <p:cNvPr id="1140" name="Google Shape;1140;p47"/>
          <p:cNvSpPr txBox="1"/>
          <p:nvPr/>
        </p:nvSpPr>
        <p:spPr>
          <a:xfrm>
            <a:off x="2377440" y="2057400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/products/admin/add. 이 경로(/products/admin/**)는 ADMIN / MANAGER만 들어갈 수 있습니다.</a:t>
            </a:r>
            <a:endParaRPr/>
          </a:p>
        </p:txBody>
      </p:sp>
      <p:cxnSp>
        <p:nvCxnSpPr>
          <p:cNvPr id="1141" name="Google Shape;1141;p47"/>
          <p:cNvCxnSpPr/>
          <p:nvPr/>
        </p:nvCxnSpPr>
        <p:spPr>
          <a:xfrm>
            <a:off x="548640" y="265176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42" name="Google Shape;1142;p47"/>
          <p:cNvSpPr txBox="1"/>
          <p:nvPr/>
        </p:nvSpPr>
        <p:spPr>
          <a:xfrm>
            <a:off x="548640" y="278892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입력</a:t>
            </a:r>
            <a:endParaRPr/>
          </a:p>
        </p:txBody>
      </p:sp>
      <p:sp>
        <p:nvSpPr>
          <p:cNvPr id="1143" name="Google Shape;1143;p47"/>
          <p:cNvSpPr txBox="1"/>
          <p:nvPr/>
        </p:nvSpPr>
        <p:spPr>
          <a:xfrm>
            <a:off x="2377440" y="2788920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상품코드(lr-001-001 형식), 상품명 / 가격 / 브랜드, 공간 / 품목 분류, 제조국 / 재고 / 사이즈 / 소재 / 출시일 / 설명, 이미지 4장.</a:t>
            </a:r>
            <a:endParaRPr/>
          </a:p>
        </p:txBody>
      </p:sp>
      <p:cxnSp>
        <p:nvCxnSpPr>
          <p:cNvPr id="1144" name="Google Shape;1144;p47"/>
          <p:cNvCxnSpPr/>
          <p:nvPr/>
        </p:nvCxnSpPr>
        <p:spPr>
          <a:xfrm>
            <a:off x="548640" y="352882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45" name="Google Shape;1145;p47"/>
          <p:cNvSpPr txBox="1"/>
          <p:nvPr/>
        </p:nvSpPr>
        <p:spPr>
          <a:xfrm>
            <a:off x="548640" y="366598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/>
          </a:p>
        </p:txBody>
      </p:sp>
      <p:sp>
        <p:nvSpPr>
          <p:cNvPr id="1146" name="Google Shape;1146;p47"/>
          <p:cNvSpPr txBox="1"/>
          <p:nvPr/>
        </p:nvSpPr>
        <p:spPr>
          <a:xfrm>
            <a:off x="2377440" y="3665982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@Valid로 필수 입력과 상품코드 형식을 검사하고, 이미지 4장이 모두 선택됐는지 Controller에서 확인합니다.</a:t>
            </a:r>
            <a:endParaRPr/>
          </a:p>
        </p:txBody>
      </p:sp>
      <p:cxnSp>
        <p:nvCxnSpPr>
          <p:cNvPr id="1147" name="Google Shape;1147;p47"/>
          <p:cNvCxnSpPr/>
          <p:nvPr/>
        </p:nvCxnSpPr>
        <p:spPr>
          <a:xfrm>
            <a:off x="548640" y="426034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48" name="Google Shape;1148;p47"/>
          <p:cNvSpPr txBox="1"/>
          <p:nvPr/>
        </p:nvSpPr>
        <p:spPr>
          <a:xfrm>
            <a:off x="548640" y="439750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</p:txBody>
      </p:sp>
      <p:sp>
        <p:nvSpPr>
          <p:cNvPr id="1149" name="Google Shape;1149;p47"/>
          <p:cNvSpPr txBox="1"/>
          <p:nvPr/>
        </p:nvSpPr>
        <p:spPr>
          <a:xfrm>
            <a:off x="2377440" y="4397502"/>
            <a:ext cx="926561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이미지를 'UUID_원본파일명'으로 저장하고, 파일명을 fileName1~4에 넣어 등록일과 함께 save()합니다.</a:t>
            </a:r>
            <a:endParaRPr/>
          </a:p>
        </p:txBody>
      </p:sp>
      <p:cxnSp>
        <p:nvCxnSpPr>
          <p:cNvPr id="1150" name="Google Shape;1150;p47"/>
          <p:cNvCxnSpPr/>
          <p:nvPr/>
        </p:nvCxnSpPr>
        <p:spPr>
          <a:xfrm>
            <a:off x="548640" y="499186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48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ADD PRODUCT CODE</a:t>
            </a:r>
            <a:endParaRPr/>
          </a:p>
        </p:txBody>
      </p:sp>
      <p:sp>
        <p:nvSpPr>
          <p:cNvPr id="1156" name="Google Shape;1156;p48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등록 코드 ① View / Controller</a:t>
            </a:r>
            <a:endParaRPr/>
          </a:p>
        </p:txBody>
      </p:sp>
      <p:sp>
        <p:nvSpPr>
          <p:cNvPr id="1157" name="Google Shape;1157;p48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폼은 multipart로 이미지 파일을 함께 보내고, Controller는 검증을 통과한 상품만 Service로 넘깁니다.</a:t>
            </a:r>
            <a:endParaRPr/>
          </a:p>
        </p:txBody>
      </p:sp>
      <p:sp>
        <p:nvSpPr>
          <p:cNvPr id="1158" name="Google Shape;1158;p48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159" name="Google Shape;1159;p48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160" name="Google Shape;1160;p48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1161" name="Google Shape;1161;p48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1162" name="Google Shape;1162;p48"/>
          <p:cNvSpPr/>
          <p:nvPr/>
        </p:nvSpPr>
        <p:spPr>
          <a:xfrm>
            <a:off x="7726679" y="2249424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48"/>
          <p:cNvSpPr txBox="1"/>
          <p:nvPr/>
        </p:nvSpPr>
        <p:spPr>
          <a:xfrm>
            <a:off x="789127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64" name="Google Shape;1164;p48"/>
          <p:cNvSpPr txBox="1"/>
          <p:nvPr/>
        </p:nvSpPr>
        <p:spPr>
          <a:xfrm>
            <a:off x="8321040" y="2249424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POST /products/admin/add / multipart</a:t>
            </a:r>
            <a:endParaRPr/>
          </a:p>
        </p:txBody>
      </p:sp>
      <p:cxnSp>
        <p:nvCxnSpPr>
          <p:cNvPr id="1165" name="Google Shape;1165;p48"/>
          <p:cNvCxnSpPr/>
          <p:nvPr/>
        </p:nvCxnSpPr>
        <p:spPr>
          <a:xfrm>
            <a:off x="805586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166" name="Google Shape;1166;p48"/>
          <p:cNvSpPr/>
          <p:nvPr/>
        </p:nvSpPr>
        <p:spPr>
          <a:xfrm>
            <a:off x="7726679" y="3181350"/>
            <a:ext cx="391637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8"/>
          <p:cNvSpPr txBox="1"/>
          <p:nvPr/>
        </p:nvSpPr>
        <p:spPr>
          <a:xfrm>
            <a:off x="789127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68" name="Google Shape;1168;p48"/>
          <p:cNvSpPr txBox="1"/>
          <p:nvPr/>
        </p:nvSpPr>
        <p:spPr>
          <a:xfrm>
            <a:off x="8321040" y="3181350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필드 검증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@Valid Product / BindingResult</a:t>
            </a:r>
            <a:endParaRPr/>
          </a:p>
        </p:txBody>
      </p:sp>
      <p:cxnSp>
        <p:nvCxnSpPr>
          <p:cNvPr id="1169" name="Google Shape;1169;p48"/>
          <p:cNvCxnSpPr/>
          <p:nvPr/>
        </p:nvCxnSpPr>
        <p:spPr>
          <a:xfrm>
            <a:off x="805586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170" name="Google Shape;1170;p48"/>
          <p:cNvSpPr/>
          <p:nvPr/>
        </p:nvSpPr>
        <p:spPr>
          <a:xfrm>
            <a:off x="7726679" y="4113275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48"/>
          <p:cNvSpPr txBox="1"/>
          <p:nvPr/>
        </p:nvSpPr>
        <p:spPr>
          <a:xfrm>
            <a:off x="789127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72" name="Google Shape;1172;p48"/>
          <p:cNvSpPr txBox="1"/>
          <p:nvPr/>
        </p:nvSpPr>
        <p:spPr>
          <a:xfrm>
            <a:off x="8321040" y="4113275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이미지 확인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비어 있으면 rejectValue()</a:t>
            </a:r>
            <a:endParaRPr/>
          </a:p>
        </p:txBody>
      </p:sp>
      <p:cxnSp>
        <p:nvCxnSpPr>
          <p:cNvPr id="1173" name="Google Shape;1173;p48"/>
          <p:cNvCxnSpPr/>
          <p:nvPr/>
        </p:nvCxnSpPr>
        <p:spPr>
          <a:xfrm>
            <a:off x="805586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174" name="Google Shape;1174;p48"/>
          <p:cNvSpPr/>
          <p:nvPr/>
        </p:nvSpPr>
        <p:spPr>
          <a:xfrm>
            <a:off x="7726679" y="5045202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8"/>
          <p:cNvSpPr txBox="1"/>
          <p:nvPr/>
        </p:nvSpPr>
        <p:spPr>
          <a:xfrm>
            <a:off x="789127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76" name="Google Shape;1176;p48"/>
          <p:cNvSpPr txBox="1"/>
          <p:nvPr/>
        </p:nvSpPr>
        <p:spPr>
          <a:xfrm>
            <a:off x="8321040" y="5045202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저장 위임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productService.addProduct(product)</a:t>
            </a:r>
            <a:endParaRPr/>
          </a:p>
        </p:txBody>
      </p:sp>
      <p:sp>
        <p:nvSpPr>
          <p:cNvPr id="1177" name="Google Shape;1177;p48"/>
          <p:cNvSpPr/>
          <p:nvPr/>
        </p:nvSpPr>
        <p:spPr>
          <a:xfrm>
            <a:off x="548640" y="1920240"/>
            <a:ext cx="6903720" cy="4128516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8"/>
          <p:cNvSpPr txBox="1"/>
          <p:nvPr/>
        </p:nvSpPr>
        <p:spPr>
          <a:xfrm>
            <a:off x="749808" y="2066544"/>
            <a:ext cx="6583680" cy="390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addProduct.html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&lt;form id="addProductForm"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21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th:action="@{/products/admin/add}"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th:object="${product}"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method="post"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24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enctype="multipart/form-data"&gt;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&lt;!-- ... 상품 정보 / 이미지 4개 입력 --&gt;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184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&lt;button type="submit" class="btn btn-primary"&gt;상품 등록&lt;/button&gt;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188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/>
          </a:p>
          <a:p>
            <a:pPr marL="0" marR="0" lvl="0" indent="0" algn="l" rtl="0">
              <a:lnSpc>
                <a:spcPct val="138823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ProductController.java / addProduct()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184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@PostMapping("/admin/add")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185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String addProduct(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186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@Valid Product product,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187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BindingResult bindingResult) throws IOException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이미지 / 필드명 / 이름 배열 준비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for(int i = 0; i &lt; images.length; i++)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if(images[i] == null || images[i].isEmpty())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202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bindingResult.rejectValue(fieldNames[i], "required",imageNames[i] +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            "를 선택해주세요.");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205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if(bindingResult.hasErrors()){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    return "product/addProduct";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209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productService.addProduct(product);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"redirect:/";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9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ADD PRODUCT CODE</a:t>
            </a:r>
            <a:endParaRPr/>
          </a:p>
        </p:txBody>
      </p:sp>
      <p:sp>
        <p:nvSpPr>
          <p:cNvPr id="1184" name="Google Shape;1184;p49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등록 코드 ② Service / Entity</a:t>
            </a:r>
            <a:endParaRPr/>
          </a:p>
        </p:txBody>
      </p:sp>
      <p:sp>
        <p:nvSpPr>
          <p:cNvPr id="1185" name="Google Shape;1185;p49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/>
              <a:t>파일을 업로드 폴더에 저장한 뒤 파일명과 등록일을 넣어 save()합니다. </a:t>
            </a:r>
            <a:endParaRPr/>
          </a:p>
        </p:txBody>
      </p:sp>
      <p:sp>
        <p:nvSpPr>
          <p:cNvPr id="1186" name="Google Shape;1186;p49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187" name="Google Shape;1187;p49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188" name="Google Shape;1188;p49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sp>
        <p:nvSpPr>
          <p:cNvPr id="1189" name="Google Shape;1189;p49"/>
          <p:cNvSpPr txBox="1"/>
          <p:nvPr/>
        </p:nvSpPr>
        <p:spPr>
          <a:xfrm>
            <a:off x="7726679" y="1920240"/>
            <a:ext cx="391637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/>
          </a:p>
        </p:txBody>
      </p:sp>
      <p:sp>
        <p:nvSpPr>
          <p:cNvPr id="1190" name="Google Shape;1190;p49"/>
          <p:cNvSpPr/>
          <p:nvPr/>
        </p:nvSpPr>
        <p:spPr>
          <a:xfrm>
            <a:off x="7726679" y="2249424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49"/>
          <p:cNvSpPr txBox="1"/>
          <p:nvPr/>
        </p:nvSpPr>
        <p:spPr>
          <a:xfrm>
            <a:off x="7891271" y="2249424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92" name="Google Shape;1192;p49"/>
          <p:cNvSpPr txBox="1"/>
          <p:nvPr/>
        </p:nvSpPr>
        <p:spPr>
          <a:xfrm>
            <a:off x="8321040" y="2249424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파일 저장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UUID_원본파일명 → transferTo()</a:t>
            </a:r>
            <a:endParaRPr/>
          </a:p>
        </p:txBody>
      </p:sp>
      <p:cxnSp>
        <p:nvCxnSpPr>
          <p:cNvPr id="1193" name="Google Shape;1193;p49"/>
          <p:cNvCxnSpPr/>
          <p:nvPr/>
        </p:nvCxnSpPr>
        <p:spPr>
          <a:xfrm>
            <a:off x="8055863" y="3016757"/>
            <a:ext cx="0" cy="164593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194" name="Google Shape;1194;p49"/>
          <p:cNvSpPr/>
          <p:nvPr/>
        </p:nvSpPr>
        <p:spPr>
          <a:xfrm>
            <a:off x="7726679" y="3181350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9"/>
          <p:cNvSpPr txBox="1"/>
          <p:nvPr/>
        </p:nvSpPr>
        <p:spPr>
          <a:xfrm>
            <a:off x="7891271" y="3181350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96" name="Google Shape;1196;p49"/>
          <p:cNvSpPr txBox="1"/>
          <p:nvPr/>
        </p:nvSpPr>
        <p:spPr>
          <a:xfrm>
            <a:off x="8321040" y="3181350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파일명 / 등록일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setFileName1~4 / setRegDate</a:t>
            </a:r>
            <a:endParaRPr/>
          </a:p>
        </p:txBody>
      </p:sp>
      <p:cxnSp>
        <p:nvCxnSpPr>
          <p:cNvPr id="1197" name="Google Shape;1197;p49"/>
          <p:cNvCxnSpPr/>
          <p:nvPr/>
        </p:nvCxnSpPr>
        <p:spPr>
          <a:xfrm>
            <a:off x="8055863" y="3948684"/>
            <a:ext cx="0" cy="164591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198" name="Google Shape;1198;p49"/>
          <p:cNvSpPr/>
          <p:nvPr/>
        </p:nvSpPr>
        <p:spPr>
          <a:xfrm>
            <a:off x="7726679" y="4113275"/>
            <a:ext cx="3916375" cy="767334"/>
          </a:xfrm>
          <a:prstGeom prst="rect">
            <a:avLst/>
          </a:prstGeom>
          <a:solidFill>
            <a:srgbClr val="7B5E4A"/>
          </a:solidFill>
          <a:ln w="9525" cap="flat" cmpd="sng">
            <a:solidFill>
              <a:srgbClr val="7B5E4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49"/>
          <p:cNvSpPr txBox="1"/>
          <p:nvPr/>
        </p:nvSpPr>
        <p:spPr>
          <a:xfrm>
            <a:off x="7891271" y="4113275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00" name="Google Shape;1200;p49"/>
          <p:cNvSpPr txBox="1"/>
          <p:nvPr/>
        </p:nvSpPr>
        <p:spPr>
          <a:xfrm>
            <a:off x="8321040" y="4113275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5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2E7D5"/>
                </a:solidFill>
                <a:latin typeface="Consolas"/>
                <a:ea typeface="Consolas"/>
                <a:cs typeface="Consolas"/>
                <a:sym typeface="Consolas"/>
              </a:rPr>
              <a:t>productRepository.save(product)</a:t>
            </a:r>
            <a:endParaRPr/>
          </a:p>
        </p:txBody>
      </p:sp>
      <p:cxnSp>
        <p:nvCxnSpPr>
          <p:cNvPr id="1201" name="Google Shape;1201;p49"/>
          <p:cNvCxnSpPr/>
          <p:nvPr/>
        </p:nvCxnSpPr>
        <p:spPr>
          <a:xfrm>
            <a:off x="8055863" y="4880609"/>
            <a:ext cx="0" cy="164592"/>
          </a:xfrm>
          <a:prstGeom prst="straightConnector1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triangle" w="sm" len="sm"/>
          </a:ln>
        </p:spPr>
      </p:cxnSp>
      <p:sp>
        <p:nvSpPr>
          <p:cNvPr id="1202" name="Google Shape;1202;p49"/>
          <p:cNvSpPr/>
          <p:nvPr/>
        </p:nvSpPr>
        <p:spPr>
          <a:xfrm>
            <a:off x="7726679" y="5045202"/>
            <a:ext cx="3916375" cy="767334"/>
          </a:xfrm>
          <a:prstGeom prst="rect">
            <a:avLst/>
          </a:prstGeom>
          <a:noFill/>
          <a:ln w="9525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49"/>
          <p:cNvSpPr txBox="1"/>
          <p:nvPr/>
        </p:nvSpPr>
        <p:spPr>
          <a:xfrm>
            <a:off x="7891271" y="5045202"/>
            <a:ext cx="411480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204" name="Google Shape;1204;p49"/>
          <p:cNvSpPr txBox="1"/>
          <p:nvPr/>
        </p:nvSpPr>
        <p:spPr>
          <a:xfrm>
            <a:off x="8321040" y="5045202"/>
            <a:ext cx="3230575" cy="7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productId unique / @Transient productImage</a:t>
            </a:r>
            <a:endParaRPr/>
          </a:p>
        </p:txBody>
      </p:sp>
      <p:sp>
        <p:nvSpPr>
          <p:cNvPr id="1205" name="Google Shape;1205;p49"/>
          <p:cNvSpPr/>
          <p:nvPr/>
        </p:nvSpPr>
        <p:spPr>
          <a:xfrm>
            <a:off x="548640" y="1920240"/>
            <a:ext cx="6903720" cy="4230115"/>
          </a:xfrm>
          <a:prstGeom prst="rect">
            <a:avLst/>
          </a:prstGeom>
          <a:solidFill>
            <a:srgbClr val="1E1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49"/>
          <p:cNvSpPr txBox="1"/>
          <p:nvPr/>
        </p:nvSpPr>
        <p:spPr>
          <a:xfrm>
            <a:off x="749808" y="2066544"/>
            <a:ext cx="6583680" cy="4010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ProductService.java / addProduct()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public void addProduct(Product product) throws IOException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File dir = new File(uploadDir);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136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if(!dir.exists()){ dir.mkdirs(); }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139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product.setFileName1(saveFile(product.getProductImage1(), uploadDir));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    // ... fileName2, fileName3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142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product.setFileName4(saveFile(product.getProductImage4(), uploadDir));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144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product.setRegDate(LocalDateTime.now());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146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productRepository.save(product);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147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8823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ProductService.java / saveFile()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192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private String saveFile(MultipartFile file, String uploadDir) throws IOException {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194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String originalFileName = file.getOriginalFilename();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199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String savedFileName = UUID.randomUUID().toString() + "_" + originalFileName;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203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File dest = new File(uploadDir + savedFileName);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206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    file.transferTo(dest);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209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    return savedFileName;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210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marR="0" lvl="0" indent="0" algn="l" rtl="0">
              <a:lnSpc>
                <a:spcPct val="138823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1B89A"/>
                </a:solidFill>
                <a:latin typeface="Arial"/>
                <a:ea typeface="Arial"/>
                <a:cs typeface="Arial"/>
                <a:sym typeface="Arial"/>
              </a:rPr>
              <a:t>Product.java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29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@Column(unique = true, columnDefinition = "varchar(30)")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30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private String productId;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91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@Column(columnDefinition = "varchar(100) default 'default.jpg'")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92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private String fileName1;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900" b="0">
                <a:solidFill>
                  <a:srgbClr val="9A8873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106  </a:t>
            </a:r>
            <a:r>
              <a:rPr lang="en-US" sz="900" b="1">
                <a:solidFill>
                  <a:srgbClr val="E3C08F"/>
                </a:solidFill>
                <a:latin typeface="Consolas"/>
                <a:ea typeface="Consolas"/>
                <a:cs typeface="Consolas"/>
                <a:sym typeface="Consolas"/>
              </a:rPr>
              <a:t>@Transient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F5E4E"/>
                </a:solidFill>
                <a:latin typeface="Consolas"/>
                <a:ea typeface="Consolas"/>
                <a:cs typeface="Consolas"/>
                <a:sym typeface="Consolas"/>
              </a:rPr>
              <a:t> 107  </a:t>
            </a:r>
            <a:r>
              <a:rPr lang="en-US" sz="900" b="0">
                <a:solidFill>
                  <a:srgbClr val="EFE6D8"/>
                </a:solidFill>
                <a:latin typeface="Consolas"/>
                <a:ea typeface="Consolas"/>
                <a:cs typeface="Consolas"/>
                <a:sym typeface="Consolas"/>
              </a:rPr>
              <a:t>private MultipartFile productImage1;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50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MANAGEMENT</a:t>
            </a:r>
            <a:endParaRPr/>
          </a:p>
        </p:txBody>
      </p:sp>
      <p:sp>
        <p:nvSpPr>
          <p:cNvPr id="1212" name="Google Shape;1212;p50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상품 목록 화면</a:t>
            </a:r>
            <a:endParaRPr/>
          </a:p>
        </p:txBody>
      </p:sp>
      <p:sp>
        <p:nvSpPr>
          <p:cNvPr id="1213" name="Google Shape;1213;p50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214" name="Google Shape;1214;p50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215" name="Google Shape;1215;p50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1216" name="Google Shape;1216;p50"/>
          <p:cNvSpPr/>
          <p:nvPr/>
        </p:nvSpPr>
        <p:spPr>
          <a:xfrm>
            <a:off x="2568503" y="1399032"/>
            <a:ext cx="7054688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7" name="Google Shape;1217;p50" descr="관리자 상품 목록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791" y="1417320"/>
            <a:ext cx="7018112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51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MANAGEMENT</a:t>
            </a:r>
            <a:endParaRPr/>
          </a:p>
        </p:txBody>
      </p:sp>
      <p:sp>
        <p:nvSpPr>
          <p:cNvPr id="1223" name="Google Shape;1223;p51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회원 목록 화면</a:t>
            </a:r>
            <a:endParaRPr/>
          </a:p>
        </p:txBody>
      </p:sp>
      <p:sp>
        <p:nvSpPr>
          <p:cNvPr id="1224" name="Google Shape;1224;p51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225" name="Google Shape;1225;p51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226" name="Google Shape;1226;p51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1227" name="Google Shape;1227;p51"/>
          <p:cNvSpPr/>
          <p:nvPr/>
        </p:nvSpPr>
        <p:spPr>
          <a:xfrm>
            <a:off x="1601724" y="1399032"/>
            <a:ext cx="8988245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8" name="Google Shape;1228;p51" descr="관리자 회원 목록 화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0012" y="1417320"/>
            <a:ext cx="8951669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2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MANAGEMENT</a:t>
            </a:r>
            <a:endParaRPr/>
          </a:p>
        </p:txBody>
      </p:sp>
      <p:sp>
        <p:nvSpPr>
          <p:cNvPr id="1234" name="Google Shape;1234;p52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/ 회원 관리 기능</a:t>
            </a:r>
            <a:endParaRPr/>
          </a:p>
        </p:txBody>
      </p:sp>
      <p:sp>
        <p:nvSpPr>
          <p:cNvPr id="1235" name="Google Shape;1235;p52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두 목록 모두 검색 조건을 Repository 쿼리에 함께 넘겨 조회하고, 10건씩 나눠서 보여줍니다.</a:t>
            </a:r>
            <a:endParaRPr/>
          </a:p>
        </p:txBody>
      </p:sp>
      <p:sp>
        <p:nvSpPr>
          <p:cNvPr id="1236" name="Google Shape;1236;p52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237" name="Google Shape;1237;p52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238" name="Google Shape;1238;p52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sp>
        <p:nvSpPr>
          <p:cNvPr id="1239" name="Google Shape;1239;p52"/>
          <p:cNvSpPr txBox="1"/>
          <p:nvPr/>
        </p:nvSpPr>
        <p:spPr>
          <a:xfrm>
            <a:off x="548640" y="1920240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관리</a:t>
            </a:r>
            <a:endParaRPr/>
          </a:p>
        </p:txBody>
      </p:sp>
      <p:sp>
        <p:nvSpPr>
          <p:cNvPr id="1240" name="Google Shape;1240;p52"/>
          <p:cNvSpPr txBox="1"/>
          <p:nvPr/>
        </p:nvSpPr>
        <p:spPr>
          <a:xfrm>
            <a:off x="548640" y="228600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/products/admin/list</a:t>
            </a: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   ADMIN / MANAGER</a:t>
            </a:r>
            <a:endParaRPr/>
          </a:p>
        </p:txBody>
      </p:sp>
      <p:cxnSp>
        <p:nvCxnSpPr>
          <p:cNvPr id="1241" name="Google Shape;1241;p52"/>
          <p:cNvCxnSpPr/>
          <p:nvPr/>
        </p:nvCxnSpPr>
        <p:spPr>
          <a:xfrm>
            <a:off x="548640" y="269748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2" name="Google Shape;1242;p52"/>
          <p:cNvSpPr txBox="1"/>
          <p:nvPr/>
        </p:nvSpPr>
        <p:spPr>
          <a:xfrm>
            <a:off x="548640" y="283464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검색</a:t>
            </a:r>
            <a:endParaRPr/>
          </a:p>
        </p:txBody>
      </p:sp>
      <p:sp>
        <p:nvSpPr>
          <p:cNvPr id="1243" name="Google Shape;1243;p52"/>
          <p:cNvSpPr txBox="1"/>
          <p:nvPr/>
        </p:nvSpPr>
        <p:spPr>
          <a:xfrm>
            <a:off x="1554480" y="28346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등록일 기간 / 상품명 / 상품코드</a:t>
            </a:r>
            <a:endParaRPr/>
          </a:p>
        </p:txBody>
      </p:sp>
      <p:cxnSp>
        <p:nvCxnSpPr>
          <p:cNvPr id="1244" name="Google Shape;1244;p52"/>
          <p:cNvCxnSpPr/>
          <p:nvPr/>
        </p:nvCxnSpPr>
        <p:spPr>
          <a:xfrm>
            <a:off x="548640" y="342900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5" name="Google Shape;1245;p52"/>
          <p:cNvSpPr txBox="1"/>
          <p:nvPr/>
        </p:nvSpPr>
        <p:spPr>
          <a:xfrm>
            <a:off x="548640" y="356616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정렬</a:t>
            </a:r>
            <a:endParaRPr/>
          </a:p>
        </p:txBody>
      </p:sp>
      <p:sp>
        <p:nvSpPr>
          <p:cNvPr id="1246" name="Google Shape;1246;p52"/>
          <p:cNvSpPr txBox="1"/>
          <p:nvPr/>
        </p:nvSpPr>
        <p:spPr>
          <a:xfrm>
            <a:off x="1554480" y="35661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최신 등록순 / 오래된순 / 가격 낮은순 / 높은순</a:t>
            </a:r>
            <a:endParaRPr/>
          </a:p>
        </p:txBody>
      </p:sp>
      <p:cxnSp>
        <p:nvCxnSpPr>
          <p:cNvPr id="1247" name="Google Shape;1247;p52"/>
          <p:cNvCxnSpPr/>
          <p:nvPr/>
        </p:nvCxnSpPr>
        <p:spPr>
          <a:xfrm>
            <a:off x="548640" y="416052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8" name="Google Shape;1248;p52"/>
          <p:cNvSpPr txBox="1"/>
          <p:nvPr/>
        </p:nvSpPr>
        <p:spPr>
          <a:xfrm>
            <a:off x="548640" y="429768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/>
          </a:p>
        </p:txBody>
      </p:sp>
      <p:sp>
        <p:nvSpPr>
          <p:cNvPr id="1249" name="Google Shape;1249;p52"/>
          <p:cNvSpPr txBox="1"/>
          <p:nvPr/>
        </p:nvSpPr>
        <p:spPr>
          <a:xfrm>
            <a:off x="1554480" y="429768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상품 수정 / 삭제 / 선택 삭제</a:t>
            </a:r>
            <a:endParaRPr/>
          </a:p>
        </p:txBody>
      </p:sp>
      <p:cxnSp>
        <p:nvCxnSpPr>
          <p:cNvPr id="1250" name="Google Shape;1250;p52"/>
          <p:cNvCxnSpPr/>
          <p:nvPr/>
        </p:nvCxnSpPr>
        <p:spPr>
          <a:xfrm>
            <a:off x="548640" y="489204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51" name="Google Shape;1251;p52"/>
          <p:cNvSpPr txBox="1"/>
          <p:nvPr/>
        </p:nvSpPr>
        <p:spPr>
          <a:xfrm>
            <a:off x="548640" y="53035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selectProductList() → searchAdminProducts()</a:t>
            </a:r>
            <a:endParaRPr/>
          </a:p>
        </p:txBody>
      </p:sp>
      <p:sp>
        <p:nvSpPr>
          <p:cNvPr id="1252" name="Google Shape;1252;p52"/>
          <p:cNvSpPr txBox="1"/>
          <p:nvPr/>
        </p:nvSpPr>
        <p:spPr>
          <a:xfrm>
            <a:off x="6217920" y="1920240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 관리</a:t>
            </a:r>
            <a:endParaRPr/>
          </a:p>
        </p:txBody>
      </p:sp>
      <p:sp>
        <p:nvSpPr>
          <p:cNvPr id="1253" name="Google Shape;1253;p52"/>
          <p:cNvSpPr txBox="1"/>
          <p:nvPr/>
        </p:nvSpPr>
        <p:spPr>
          <a:xfrm>
            <a:off x="6217920" y="2286000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98563"/>
                </a:solidFill>
                <a:latin typeface="Consolas"/>
                <a:ea typeface="Consolas"/>
                <a:cs typeface="Consolas"/>
                <a:sym typeface="Consolas"/>
              </a:rPr>
              <a:t>GET /customers/admin/list</a:t>
            </a: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   ADMIN</a:t>
            </a:r>
            <a:endParaRPr/>
          </a:p>
        </p:txBody>
      </p:sp>
      <p:cxnSp>
        <p:nvCxnSpPr>
          <p:cNvPr id="1254" name="Google Shape;1254;p52"/>
          <p:cNvCxnSpPr/>
          <p:nvPr/>
        </p:nvCxnSpPr>
        <p:spPr>
          <a:xfrm>
            <a:off x="6217920" y="269748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55" name="Google Shape;1255;p52"/>
          <p:cNvSpPr txBox="1"/>
          <p:nvPr/>
        </p:nvSpPr>
        <p:spPr>
          <a:xfrm>
            <a:off x="6217920" y="283464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검색</a:t>
            </a:r>
            <a:endParaRPr/>
          </a:p>
        </p:txBody>
      </p:sp>
      <p:sp>
        <p:nvSpPr>
          <p:cNvPr id="1256" name="Google Shape;1256;p52"/>
          <p:cNvSpPr txBox="1"/>
          <p:nvPr/>
        </p:nvSpPr>
        <p:spPr>
          <a:xfrm>
            <a:off x="7223760" y="28346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가입일 기간 / 회원 ID / 이름 / 전화번호 / 성별 / 권한</a:t>
            </a:r>
            <a:endParaRPr/>
          </a:p>
        </p:txBody>
      </p:sp>
      <p:cxnSp>
        <p:nvCxnSpPr>
          <p:cNvPr id="1257" name="Google Shape;1257;p52"/>
          <p:cNvCxnSpPr/>
          <p:nvPr/>
        </p:nvCxnSpPr>
        <p:spPr>
          <a:xfrm>
            <a:off x="6217920" y="342900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58" name="Google Shape;1258;p52"/>
          <p:cNvSpPr txBox="1"/>
          <p:nvPr/>
        </p:nvSpPr>
        <p:spPr>
          <a:xfrm>
            <a:off x="6217920" y="356616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정렬</a:t>
            </a:r>
            <a:endParaRPr/>
          </a:p>
        </p:txBody>
      </p:sp>
      <p:sp>
        <p:nvSpPr>
          <p:cNvPr id="1259" name="Google Shape;1259;p52"/>
          <p:cNvSpPr txBox="1"/>
          <p:nvPr/>
        </p:nvSpPr>
        <p:spPr>
          <a:xfrm>
            <a:off x="7223760" y="35661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최근 가입순 / 오래된 가입순</a:t>
            </a:r>
            <a:endParaRPr/>
          </a:p>
        </p:txBody>
      </p:sp>
      <p:cxnSp>
        <p:nvCxnSpPr>
          <p:cNvPr id="1260" name="Google Shape;1260;p52"/>
          <p:cNvCxnSpPr/>
          <p:nvPr/>
        </p:nvCxnSpPr>
        <p:spPr>
          <a:xfrm>
            <a:off x="6217920" y="416052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61" name="Google Shape;1261;p52"/>
          <p:cNvSpPr txBox="1"/>
          <p:nvPr/>
        </p:nvSpPr>
        <p:spPr>
          <a:xfrm>
            <a:off x="6217920" y="429768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endParaRPr/>
          </a:p>
        </p:txBody>
      </p:sp>
      <p:sp>
        <p:nvSpPr>
          <p:cNvPr id="1262" name="Google Shape;1262;p52"/>
          <p:cNvSpPr txBox="1"/>
          <p:nvPr/>
        </p:nvSpPr>
        <p:spPr>
          <a:xfrm>
            <a:off x="7223760" y="429768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회원정보 / 권한 수정 / 삭제 / 선택 삭제</a:t>
            </a:r>
            <a:endParaRPr/>
          </a:p>
        </p:txBody>
      </p:sp>
      <p:cxnSp>
        <p:nvCxnSpPr>
          <p:cNvPr id="1263" name="Google Shape;1263;p52"/>
          <p:cNvCxnSpPr/>
          <p:nvPr/>
        </p:nvCxnSpPr>
        <p:spPr>
          <a:xfrm>
            <a:off x="6217920" y="4892040"/>
            <a:ext cx="5394960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64" name="Google Shape;1264;p52"/>
          <p:cNvSpPr txBox="1"/>
          <p:nvPr/>
        </p:nvSpPr>
        <p:spPr>
          <a:xfrm>
            <a:off x="6217920" y="53035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selectCustomerList() → searchAdminCustomers()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53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ORDER STATUS</a:t>
            </a:r>
            <a:endParaRPr/>
          </a:p>
        </p:txBody>
      </p:sp>
      <p:sp>
        <p:nvSpPr>
          <p:cNvPr id="1270" name="Google Shape;1270;p53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주문 목록 화면</a:t>
            </a:r>
            <a:endParaRPr/>
          </a:p>
        </p:txBody>
      </p:sp>
      <p:sp>
        <p:nvSpPr>
          <p:cNvPr id="1271" name="Google Shape;1271;p53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272" name="Google Shape;1272;p53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273" name="Google Shape;1273;p53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pic>
        <p:nvPicPr>
          <p:cNvPr id="1274" name="Google Shape;1274;p53" descr="관리자 주문 목록 화면"/>
          <p:cNvPicPr preferRelativeResize="0"/>
          <p:nvPr/>
        </p:nvPicPr>
        <p:blipFill rotWithShape="1">
          <a:blip r:embed="rId3">
            <a:alphaModFix/>
          </a:blip>
          <a:srcRect l="22923" t="2186" r="8352" b="1518"/>
          <a:stretch/>
        </p:blipFill>
        <p:spPr>
          <a:xfrm>
            <a:off x="4582133" y="238178"/>
            <a:ext cx="6295865" cy="5943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4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ORDER STATUS</a:t>
            </a:r>
            <a:endParaRPr/>
          </a:p>
        </p:txBody>
      </p:sp>
      <p:sp>
        <p:nvSpPr>
          <p:cNvPr id="1280" name="Google Shape;1280;p54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관리 — 주문상태와 배송상태</a:t>
            </a:r>
            <a:endParaRPr/>
          </a:p>
        </p:txBody>
      </p:sp>
      <p:sp>
        <p:nvSpPr>
          <p:cNvPr id="1281" name="Google Shape;1281;p54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 목록에서 상태를 고르면 확인 후 바로 요청을 보내고, 주문상태와 배송상태는 따로 저장됩니다.</a:t>
            </a:r>
            <a:endParaRPr/>
          </a:p>
        </p:txBody>
      </p:sp>
      <p:sp>
        <p:nvSpPr>
          <p:cNvPr id="1282" name="Google Shape;1282;p54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283" name="Google Shape;1283;p54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284" name="Google Shape;1284;p54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</p:txBody>
      </p:sp>
      <p:cxnSp>
        <p:nvCxnSpPr>
          <p:cNvPr id="1285" name="Google Shape;1285;p54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6" name="Google Shape;1286;p54"/>
          <p:cNvSpPr txBox="1"/>
          <p:nvPr/>
        </p:nvSpPr>
        <p:spPr>
          <a:xfrm>
            <a:off x="548640" y="20574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목록과 검색</a:t>
            </a:r>
            <a:endParaRPr/>
          </a:p>
        </p:txBody>
      </p:sp>
      <p:sp>
        <p:nvSpPr>
          <p:cNvPr id="1287" name="Google Shape;1287;p54"/>
          <p:cNvSpPr txBox="1"/>
          <p:nvPr/>
        </p:nvSpPr>
        <p:spPr>
          <a:xfrm>
            <a:off x="2377440" y="2057400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/orders/admin/list (ADMIN). 주문번호 / 수령인 / 전화번호 / 배송상태 / 주문상태로 주문일시 최신순 10건씩 조회합니다.</a:t>
            </a:r>
            <a:endParaRPr/>
          </a:p>
        </p:txBody>
      </p:sp>
      <p:cxnSp>
        <p:nvCxnSpPr>
          <p:cNvPr id="1288" name="Google Shape;1288;p54"/>
          <p:cNvCxnSpPr/>
          <p:nvPr/>
        </p:nvCxnSpPr>
        <p:spPr>
          <a:xfrm>
            <a:off x="548640" y="279730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9" name="Google Shape;1289;p54"/>
          <p:cNvSpPr txBox="1"/>
          <p:nvPr/>
        </p:nvSpPr>
        <p:spPr>
          <a:xfrm>
            <a:off x="548640" y="293446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두 상태</a:t>
            </a:r>
            <a:endParaRPr/>
          </a:p>
        </p:txBody>
      </p:sp>
      <p:sp>
        <p:nvSpPr>
          <p:cNvPr id="1290" name="Google Shape;1290;p54"/>
          <p:cNvSpPr txBox="1"/>
          <p:nvPr/>
        </p:nvSpPr>
        <p:spPr>
          <a:xfrm>
            <a:off x="2377440" y="2934462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주문상태(주문완료/주문취소)는 Order.status, 배송상태(상품준비중/배송중/배송완료)는 Delivery.status에 저장됩니다.</a:t>
            </a:r>
            <a:endParaRPr/>
          </a:p>
        </p:txBody>
      </p:sp>
      <p:cxnSp>
        <p:nvCxnSpPr>
          <p:cNvPr id="1291" name="Google Shape;1291;p54"/>
          <p:cNvCxnSpPr/>
          <p:nvPr/>
        </p:nvCxnSpPr>
        <p:spPr>
          <a:xfrm>
            <a:off x="548640" y="367436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92" name="Google Shape;1292;p54"/>
          <p:cNvSpPr txBox="1"/>
          <p:nvPr/>
        </p:nvSpPr>
        <p:spPr>
          <a:xfrm>
            <a:off x="548640" y="3811524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배송상태 변경</a:t>
            </a:r>
            <a:endParaRPr/>
          </a:p>
        </p:txBody>
      </p:sp>
      <p:sp>
        <p:nvSpPr>
          <p:cNvPr id="1293" name="Google Shape;1293;p54"/>
          <p:cNvSpPr txBox="1"/>
          <p:nvPr/>
        </p:nvSpPr>
        <p:spPr>
          <a:xfrm>
            <a:off x="2377440" y="3811524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POST /orders/admin/updateDeliveryStatus. 배송완료로 바꾸면 deliveryDate를 남기고, 회원 주문 내역에 후기 버튼이 나옵니다.</a:t>
            </a:r>
            <a:endParaRPr/>
          </a:p>
        </p:txBody>
      </p:sp>
      <p:cxnSp>
        <p:nvCxnSpPr>
          <p:cNvPr id="1294" name="Google Shape;1294;p54"/>
          <p:cNvCxnSpPr/>
          <p:nvPr/>
        </p:nvCxnSpPr>
        <p:spPr>
          <a:xfrm>
            <a:off x="548640" y="455142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95" name="Google Shape;1295;p54"/>
          <p:cNvSpPr txBox="1"/>
          <p:nvPr/>
        </p:nvSpPr>
        <p:spPr>
          <a:xfrm>
            <a:off x="548640" y="4688586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주문상태 변경</a:t>
            </a:r>
            <a:endParaRPr/>
          </a:p>
        </p:txBody>
      </p:sp>
      <p:sp>
        <p:nvSpPr>
          <p:cNvPr id="1296" name="Google Shape;1296;p54"/>
          <p:cNvSpPr txBox="1"/>
          <p:nvPr/>
        </p:nvSpPr>
        <p:spPr>
          <a:xfrm>
            <a:off x="2377440" y="4688586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POST /orders/admin/updateOrderStatus. 이미 취소된 주문은 바꿀 수 없고, 주문취소로 바꾸면 재고를 되돌립니다.</a:t>
            </a:r>
            <a:endParaRPr/>
          </a:p>
        </p:txBody>
      </p:sp>
      <p:cxnSp>
        <p:nvCxnSpPr>
          <p:cNvPr id="1297" name="Google Shape;1297;p54"/>
          <p:cNvCxnSpPr/>
          <p:nvPr/>
        </p:nvCxnSpPr>
        <p:spPr>
          <a:xfrm>
            <a:off x="548640" y="5428488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5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QNA ANSWER</a:t>
            </a:r>
            <a:endParaRPr/>
          </a:p>
        </p:txBody>
      </p:sp>
      <p:sp>
        <p:nvSpPr>
          <p:cNvPr id="1303" name="Google Shape;1303;p55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Q&amp;A 목록 화면</a:t>
            </a:r>
            <a:endParaRPr/>
          </a:p>
        </p:txBody>
      </p:sp>
      <p:sp>
        <p:nvSpPr>
          <p:cNvPr id="1304" name="Google Shape;1304;p55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305" name="Google Shape;1305;p55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306" name="Google Shape;1306;p55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  <p:sp>
        <p:nvSpPr>
          <p:cNvPr id="1307" name="Google Shape;1307;p55"/>
          <p:cNvSpPr/>
          <p:nvPr/>
        </p:nvSpPr>
        <p:spPr>
          <a:xfrm>
            <a:off x="2398330" y="1399032"/>
            <a:ext cx="7395034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8" name="Google Shape;1308;p55" descr="관리자 Q&amp;A 목록 화면"/>
          <p:cNvPicPr preferRelativeResize="0"/>
          <p:nvPr/>
        </p:nvPicPr>
        <p:blipFill rotWithShape="1">
          <a:blip r:embed="rId3">
            <a:alphaModFix/>
          </a:blip>
          <a:srcRect t="10545" b="19879"/>
          <a:stretch/>
        </p:blipFill>
        <p:spPr>
          <a:xfrm>
            <a:off x="2416618" y="1417320"/>
            <a:ext cx="7358458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56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QNA ANSWER</a:t>
            </a:r>
            <a:endParaRPr/>
          </a:p>
        </p:txBody>
      </p:sp>
      <p:sp>
        <p:nvSpPr>
          <p:cNvPr id="1314" name="Google Shape;1314;p56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Q&amp;A 답변 화면</a:t>
            </a:r>
            <a:endParaRPr/>
          </a:p>
        </p:txBody>
      </p:sp>
      <p:sp>
        <p:nvSpPr>
          <p:cNvPr id="1315" name="Google Shape;1315;p56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317" name="Google Shape;1317;p56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/>
          </a:p>
        </p:txBody>
      </p:sp>
      <p:sp>
        <p:nvSpPr>
          <p:cNvPr id="1318" name="Google Shape;1318;p56"/>
          <p:cNvSpPr/>
          <p:nvPr/>
        </p:nvSpPr>
        <p:spPr>
          <a:xfrm>
            <a:off x="2092884" y="1399032"/>
            <a:ext cx="8005925" cy="4855464"/>
          </a:xfrm>
          <a:prstGeom prst="rect">
            <a:avLst/>
          </a:prstGeom>
          <a:solidFill>
            <a:srgbClr val="5E4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9" name="Google Shape;1319;p56" descr="관리자 Q&amp;A 답변 화면"/>
          <p:cNvPicPr preferRelativeResize="0"/>
          <p:nvPr/>
        </p:nvPicPr>
        <p:blipFill rotWithShape="1">
          <a:blip r:embed="rId3">
            <a:alphaModFix/>
          </a:blip>
          <a:srcRect t="5453" b="22290"/>
          <a:stretch/>
        </p:blipFill>
        <p:spPr>
          <a:xfrm>
            <a:off x="2111172" y="1417320"/>
            <a:ext cx="7969349" cy="4818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57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ADMIN  /  QNA ANSWER</a:t>
            </a:r>
            <a:endParaRPr/>
          </a:p>
        </p:txBody>
      </p:sp>
      <p:sp>
        <p:nvSpPr>
          <p:cNvPr id="1325" name="Google Shape;1325;p57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관리자 Q&amp;A 답변 처리</a:t>
            </a:r>
            <a:endParaRPr/>
          </a:p>
        </p:txBody>
      </p:sp>
      <p:sp>
        <p:nvSpPr>
          <p:cNvPr id="1326" name="Google Shape;1326;p57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답변은 새 행을 추가하지 않고 기존 문의의 answer와 answerDate를 채워 저장합니다.</a:t>
            </a:r>
            <a:endParaRPr/>
          </a:p>
        </p:txBody>
      </p:sp>
      <p:sp>
        <p:nvSpPr>
          <p:cNvPr id="1327" name="Google Shape;1327;p57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328" name="Google Shape;1328;p57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329" name="Google Shape;1329;p57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/>
          </a:p>
        </p:txBody>
      </p:sp>
      <p:cxnSp>
        <p:nvCxnSpPr>
          <p:cNvPr id="1330" name="Google Shape;1330;p57"/>
          <p:cNvCxnSpPr/>
          <p:nvPr/>
        </p:nvCxnSpPr>
        <p:spPr>
          <a:xfrm>
            <a:off x="548640" y="1920240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31" name="Google Shape;1331;p57"/>
          <p:cNvSpPr txBox="1"/>
          <p:nvPr/>
        </p:nvSpPr>
        <p:spPr>
          <a:xfrm>
            <a:off x="548640" y="205740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목록</a:t>
            </a:r>
            <a:endParaRPr/>
          </a:p>
        </p:txBody>
      </p:sp>
      <p:sp>
        <p:nvSpPr>
          <p:cNvPr id="1332" name="Google Shape;1332;p57"/>
          <p:cNvSpPr txBox="1"/>
          <p:nvPr/>
        </p:nvSpPr>
        <p:spPr>
          <a:xfrm>
            <a:off x="2377440" y="2057400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GET /support/admin/list. Controller에서 ADMIN / MANAGER인지 확인하고, 전체 문의를 10건씩 상태 / 제목으로 찾습니다.</a:t>
            </a:r>
            <a:endParaRPr/>
          </a:p>
        </p:txBody>
      </p:sp>
      <p:cxnSp>
        <p:nvCxnSpPr>
          <p:cNvPr id="1333" name="Google Shape;1333;p57"/>
          <p:cNvCxnSpPr/>
          <p:nvPr/>
        </p:nvCxnSpPr>
        <p:spPr>
          <a:xfrm>
            <a:off x="548640" y="2797302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34" name="Google Shape;1334;p57"/>
          <p:cNvSpPr txBox="1"/>
          <p:nvPr/>
        </p:nvSpPr>
        <p:spPr>
          <a:xfrm>
            <a:off x="548640" y="2934462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답변 저장</a:t>
            </a:r>
            <a:endParaRPr/>
          </a:p>
        </p:txBody>
      </p:sp>
      <p:sp>
        <p:nvSpPr>
          <p:cNvPr id="1335" name="Google Shape;1335;p57"/>
          <p:cNvSpPr txBox="1"/>
          <p:nvPr/>
        </p:nvSpPr>
        <p:spPr>
          <a:xfrm>
            <a:off x="2377440" y="2934462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답변 등록 → POST /support/admin/answer/{id} → qnaAdminAnswer()가 권한 확인 → saveAnswer()가 같은 Qna에 answer / answerDate를 넣어 save()합니다.</a:t>
            </a:r>
            <a:endParaRPr/>
          </a:p>
        </p:txBody>
      </p:sp>
      <p:cxnSp>
        <p:nvCxnSpPr>
          <p:cNvPr id="1336" name="Google Shape;1336;p57"/>
          <p:cNvCxnSpPr/>
          <p:nvPr/>
        </p:nvCxnSpPr>
        <p:spPr>
          <a:xfrm>
            <a:off x="548640" y="3674364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37" name="Google Shape;1337;p57"/>
          <p:cNvSpPr txBox="1"/>
          <p:nvPr/>
        </p:nvSpPr>
        <p:spPr>
          <a:xfrm>
            <a:off x="548640" y="3811524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 확인 / 삭제</a:t>
            </a:r>
            <a:endParaRPr/>
          </a:p>
        </p:txBody>
      </p:sp>
      <p:sp>
        <p:nvSpPr>
          <p:cNvPr id="1338" name="Google Shape;1338;p57"/>
          <p:cNvSpPr txBox="1"/>
          <p:nvPr/>
        </p:nvSpPr>
        <p:spPr>
          <a:xfrm>
            <a:off x="2377440" y="3811524"/>
            <a:ext cx="9265615" cy="69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회원은 자기 문의 상세에서 답변을 봅니다. 관리자는 POST /support/admin/delete/{id}로 문의를 삭제할 수 있습니다.</a:t>
            </a:r>
            <a:endParaRPr/>
          </a:p>
        </p:txBody>
      </p:sp>
      <p:cxnSp>
        <p:nvCxnSpPr>
          <p:cNvPr id="1339" name="Google Shape;1339;p57"/>
          <p:cNvCxnSpPr/>
          <p:nvPr/>
        </p:nvCxnSpPr>
        <p:spPr>
          <a:xfrm>
            <a:off x="548640" y="455142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8"/>
          <p:cNvSpPr txBox="1">
            <a:spLocks noGrp="1"/>
          </p:cNvSpPr>
          <p:nvPr>
            <p:ph type="body" idx="1"/>
          </p:nvPr>
        </p:nvSpPr>
        <p:spPr>
          <a:xfrm>
            <a:off x="548640" y="41148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98563"/>
              </a:buClr>
              <a:buSzPts val="900"/>
              <a:buNone/>
            </a:pPr>
            <a:r>
              <a:rPr lang="en-US" sz="900" b="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1345" name="Google Shape;1345;p58"/>
          <p:cNvSpPr txBox="1">
            <a:spLocks noGrp="1"/>
          </p:cNvSpPr>
          <p:nvPr>
            <p:ph type="title"/>
          </p:nvPr>
        </p:nvSpPr>
        <p:spPr>
          <a:xfrm>
            <a:off x="548640" y="67665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2E7D8"/>
              </a:buClr>
              <a:buSzPts val="2600"/>
              <a:buFont typeface="Arial"/>
              <a:buNone/>
            </a:pPr>
            <a:r>
              <a:rPr lang="en-US" sz="2600" b="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MOBILIA 정리</a:t>
            </a:r>
            <a:endParaRPr/>
          </a:p>
        </p:txBody>
      </p:sp>
      <p:sp>
        <p:nvSpPr>
          <p:cNvPr id="1346" name="Google Shape;1346;p58"/>
          <p:cNvSpPr txBox="1">
            <a:spLocks noGrp="1"/>
          </p:cNvSpPr>
          <p:nvPr>
            <p:ph type="body" idx="2"/>
          </p:nvPr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9B8A6"/>
              </a:buClr>
              <a:buSzPts val="1300"/>
              <a:buNone/>
            </a:pPr>
            <a:r>
              <a:rPr lang="en-US" sz="13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핵심 등록 기능마다 화면의 버튼이 보낸 요청이 Controller와 Service를 거쳐 Repository의 save()로 저장됩니다.</a:t>
            </a:r>
            <a:endParaRPr/>
          </a:p>
        </p:txBody>
      </p:sp>
      <p:sp>
        <p:nvSpPr>
          <p:cNvPr id="1347" name="Google Shape;1347;p58"/>
          <p:cNvSpPr txBox="1"/>
          <p:nvPr/>
        </p:nvSpPr>
        <p:spPr>
          <a:xfrm>
            <a:off x="548640" y="638251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MOBILIA</a:t>
            </a:r>
            <a:endParaRPr/>
          </a:p>
        </p:txBody>
      </p:sp>
      <p:sp>
        <p:nvSpPr>
          <p:cNvPr id="1348" name="Google Shape;1348;p58"/>
          <p:cNvSpPr txBox="1"/>
          <p:nvPr/>
        </p:nvSpPr>
        <p:spPr>
          <a:xfrm>
            <a:off x="1737360" y="6382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1349" name="Google Shape;1349;p58"/>
          <p:cNvSpPr txBox="1"/>
          <p:nvPr/>
        </p:nvSpPr>
        <p:spPr>
          <a:xfrm>
            <a:off x="10911535" y="638251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/>
          </a:p>
        </p:txBody>
      </p:sp>
      <p:sp>
        <p:nvSpPr>
          <p:cNvPr id="1350" name="Google Shape;1350;p58"/>
          <p:cNvSpPr txBox="1"/>
          <p:nvPr/>
        </p:nvSpPr>
        <p:spPr>
          <a:xfrm>
            <a:off x="548640" y="192024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endParaRPr/>
          </a:p>
        </p:txBody>
      </p:sp>
      <p:sp>
        <p:nvSpPr>
          <p:cNvPr id="1351" name="Google Shape;1351;p58"/>
          <p:cNvSpPr txBox="1"/>
          <p:nvPr/>
        </p:nvSpPr>
        <p:spPr>
          <a:xfrm>
            <a:off x="1874519" y="19202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화면 버튼 / 요청</a:t>
            </a:r>
            <a:endParaRPr/>
          </a:p>
        </p:txBody>
      </p:sp>
      <p:sp>
        <p:nvSpPr>
          <p:cNvPr id="1352" name="Google Shape;1352;p58"/>
          <p:cNvSpPr txBox="1"/>
          <p:nvPr/>
        </p:nvSpPr>
        <p:spPr>
          <a:xfrm>
            <a:off x="5440679" y="192024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1353" name="Google Shape;1353;p58"/>
          <p:cNvSpPr txBox="1"/>
          <p:nvPr/>
        </p:nvSpPr>
        <p:spPr>
          <a:xfrm>
            <a:off x="7178040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</p:txBody>
      </p:sp>
      <p:sp>
        <p:nvSpPr>
          <p:cNvPr id="1354" name="Google Shape;1354;p58"/>
          <p:cNvSpPr txBox="1"/>
          <p:nvPr/>
        </p:nvSpPr>
        <p:spPr>
          <a:xfrm>
            <a:off x="9235440" y="1920240"/>
            <a:ext cx="24048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A98563"/>
                </a:solidFill>
                <a:latin typeface="Arial"/>
                <a:ea typeface="Arial"/>
                <a:cs typeface="Arial"/>
                <a:sym typeface="Arial"/>
              </a:rPr>
              <a:t>저장 (Repository → Entity)</a:t>
            </a:r>
            <a:endParaRPr/>
          </a:p>
        </p:txBody>
      </p:sp>
      <p:cxnSp>
        <p:nvCxnSpPr>
          <p:cNvPr id="1355" name="Google Shape;1355;p58"/>
          <p:cNvCxnSpPr/>
          <p:nvPr/>
        </p:nvCxnSpPr>
        <p:spPr>
          <a:xfrm>
            <a:off x="548640" y="2231136"/>
            <a:ext cx="11094415" cy="0"/>
          </a:xfrm>
          <a:prstGeom prst="straightConnector1">
            <a:avLst/>
          </a:prstGeom>
          <a:noFill/>
          <a:ln w="12700" cap="flat" cmpd="sng">
            <a:solidFill>
              <a:srgbClr val="A98563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56" name="Google Shape;1356;p58"/>
          <p:cNvSpPr txBox="1"/>
          <p:nvPr/>
        </p:nvSpPr>
        <p:spPr>
          <a:xfrm>
            <a:off x="548640" y="22311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회원가입</a:t>
            </a:r>
            <a:endParaRPr/>
          </a:p>
        </p:txBody>
      </p:sp>
      <p:sp>
        <p:nvSpPr>
          <p:cNvPr id="1357" name="Google Shape;1357;p58"/>
          <p:cNvSpPr txBox="1"/>
          <p:nvPr/>
        </p:nvSpPr>
        <p:spPr>
          <a:xfrm>
            <a:off x="1874519" y="22311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회원가입 / POST /customers/signup</a:t>
            </a:r>
            <a:endParaRPr/>
          </a:p>
        </p:txBody>
      </p:sp>
      <p:sp>
        <p:nvSpPr>
          <p:cNvPr id="1358" name="Google Shape;1358;p58"/>
          <p:cNvSpPr txBox="1"/>
          <p:nvPr/>
        </p:nvSpPr>
        <p:spPr>
          <a:xfrm>
            <a:off x="5440679" y="22311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addCustomer()</a:t>
            </a:r>
            <a:endParaRPr/>
          </a:p>
        </p:txBody>
      </p:sp>
      <p:sp>
        <p:nvSpPr>
          <p:cNvPr id="1359" name="Google Shape;1359;p58"/>
          <p:cNvSpPr txBox="1"/>
          <p:nvPr/>
        </p:nvSpPr>
        <p:spPr>
          <a:xfrm>
            <a:off x="7178040" y="22311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addCustomer()</a:t>
            </a:r>
            <a:endParaRPr/>
          </a:p>
        </p:txBody>
      </p:sp>
      <p:sp>
        <p:nvSpPr>
          <p:cNvPr id="1360" name="Google Shape;1360;p58"/>
          <p:cNvSpPr txBox="1"/>
          <p:nvPr/>
        </p:nvSpPr>
        <p:spPr>
          <a:xfrm>
            <a:off x="9235440" y="22311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Customer, Address</a:t>
            </a:r>
            <a:endParaRPr/>
          </a:p>
        </p:txBody>
      </p:sp>
      <p:cxnSp>
        <p:nvCxnSpPr>
          <p:cNvPr id="1361" name="Google Shape;1361;p58"/>
          <p:cNvCxnSpPr/>
          <p:nvPr/>
        </p:nvCxnSpPr>
        <p:spPr>
          <a:xfrm>
            <a:off x="548640" y="26883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62" name="Google Shape;1362;p58"/>
          <p:cNvSpPr txBox="1"/>
          <p:nvPr/>
        </p:nvSpPr>
        <p:spPr>
          <a:xfrm>
            <a:off x="548640" y="26883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장바구니 추가</a:t>
            </a:r>
            <a:endParaRPr/>
          </a:p>
        </p:txBody>
      </p:sp>
      <p:sp>
        <p:nvSpPr>
          <p:cNvPr id="1363" name="Google Shape;1363;p58"/>
          <p:cNvSpPr txBox="1"/>
          <p:nvPr/>
        </p:nvSpPr>
        <p:spPr>
          <a:xfrm>
            <a:off x="1874519" y="26883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장바구니 / POST /cart/add</a:t>
            </a:r>
            <a:endParaRPr/>
          </a:p>
        </p:txBody>
      </p:sp>
      <p:sp>
        <p:nvSpPr>
          <p:cNvPr id="1364" name="Google Shape;1364;p58"/>
          <p:cNvSpPr txBox="1"/>
          <p:nvPr/>
        </p:nvSpPr>
        <p:spPr>
          <a:xfrm>
            <a:off x="5440679" y="26883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addCart()</a:t>
            </a:r>
            <a:endParaRPr/>
          </a:p>
        </p:txBody>
      </p:sp>
      <p:sp>
        <p:nvSpPr>
          <p:cNvPr id="1365" name="Google Shape;1365;p58"/>
          <p:cNvSpPr txBox="1"/>
          <p:nvPr/>
        </p:nvSpPr>
        <p:spPr>
          <a:xfrm>
            <a:off x="7178040" y="26883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addCart()</a:t>
            </a:r>
            <a:endParaRPr/>
          </a:p>
        </p:txBody>
      </p:sp>
      <p:sp>
        <p:nvSpPr>
          <p:cNvPr id="1366" name="Google Shape;1366;p58"/>
          <p:cNvSpPr txBox="1"/>
          <p:nvPr/>
        </p:nvSpPr>
        <p:spPr>
          <a:xfrm>
            <a:off x="9235440" y="26883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Cart, CartItem</a:t>
            </a:r>
            <a:endParaRPr/>
          </a:p>
        </p:txBody>
      </p:sp>
      <p:cxnSp>
        <p:nvCxnSpPr>
          <p:cNvPr id="1367" name="Google Shape;1367;p58"/>
          <p:cNvCxnSpPr/>
          <p:nvPr/>
        </p:nvCxnSpPr>
        <p:spPr>
          <a:xfrm>
            <a:off x="548640" y="31455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68" name="Google Shape;1368;p58"/>
          <p:cNvSpPr txBox="1"/>
          <p:nvPr/>
        </p:nvSpPr>
        <p:spPr>
          <a:xfrm>
            <a:off x="548640" y="31455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주문 생성</a:t>
            </a:r>
            <a:endParaRPr/>
          </a:p>
        </p:txBody>
      </p:sp>
      <p:sp>
        <p:nvSpPr>
          <p:cNvPr id="1369" name="Google Shape;1369;p58"/>
          <p:cNvSpPr txBox="1"/>
          <p:nvPr/>
        </p:nvSpPr>
        <p:spPr>
          <a:xfrm>
            <a:off x="1874519" y="31455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결제 및 주문완료하기 / POST /order/process</a:t>
            </a:r>
            <a:endParaRPr/>
          </a:p>
        </p:txBody>
      </p:sp>
      <p:sp>
        <p:nvSpPr>
          <p:cNvPr id="1370" name="Google Shape;1370;p58"/>
          <p:cNvSpPr txBox="1"/>
          <p:nvPr/>
        </p:nvSpPr>
        <p:spPr>
          <a:xfrm>
            <a:off x="5440679" y="31455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processOrder()</a:t>
            </a:r>
            <a:endParaRPr/>
          </a:p>
        </p:txBody>
      </p:sp>
      <p:sp>
        <p:nvSpPr>
          <p:cNvPr id="1371" name="Google Shape;1371;p58"/>
          <p:cNvSpPr txBox="1"/>
          <p:nvPr/>
        </p:nvSpPr>
        <p:spPr>
          <a:xfrm>
            <a:off x="7178040" y="31455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order() / orderFromCart()</a:t>
            </a:r>
            <a:endParaRPr/>
          </a:p>
        </p:txBody>
      </p:sp>
      <p:sp>
        <p:nvSpPr>
          <p:cNvPr id="1372" name="Google Shape;1372;p58"/>
          <p:cNvSpPr txBox="1"/>
          <p:nvPr/>
        </p:nvSpPr>
        <p:spPr>
          <a:xfrm>
            <a:off x="9235440" y="31455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save(order) → Order 외 3개</a:t>
            </a:r>
            <a:endParaRPr/>
          </a:p>
        </p:txBody>
      </p:sp>
      <p:cxnSp>
        <p:nvCxnSpPr>
          <p:cNvPr id="1373" name="Google Shape;1373;p58"/>
          <p:cNvCxnSpPr/>
          <p:nvPr/>
        </p:nvCxnSpPr>
        <p:spPr>
          <a:xfrm>
            <a:off x="548640" y="36027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4" name="Google Shape;1374;p58"/>
          <p:cNvSpPr txBox="1"/>
          <p:nvPr/>
        </p:nvSpPr>
        <p:spPr>
          <a:xfrm>
            <a:off x="548640" y="36027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후기 작성</a:t>
            </a:r>
            <a:endParaRPr/>
          </a:p>
        </p:txBody>
      </p:sp>
      <p:sp>
        <p:nvSpPr>
          <p:cNvPr id="1375" name="Google Shape;1375;p58"/>
          <p:cNvSpPr txBox="1"/>
          <p:nvPr/>
        </p:nvSpPr>
        <p:spPr>
          <a:xfrm>
            <a:off x="1874519" y="36027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등록하기 / POST /reviews</a:t>
            </a:r>
            <a:endParaRPr/>
          </a:p>
        </p:txBody>
      </p:sp>
      <p:sp>
        <p:nvSpPr>
          <p:cNvPr id="1376" name="Google Shape;1376;p58"/>
          <p:cNvSpPr txBox="1"/>
          <p:nvPr/>
        </p:nvSpPr>
        <p:spPr>
          <a:xfrm>
            <a:off x="5440679" y="36027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createReview()</a:t>
            </a:r>
            <a:endParaRPr/>
          </a:p>
        </p:txBody>
      </p:sp>
      <p:sp>
        <p:nvSpPr>
          <p:cNvPr id="1377" name="Google Shape;1377;p58"/>
          <p:cNvSpPr txBox="1"/>
          <p:nvPr/>
        </p:nvSpPr>
        <p:spPr>
          <a:xfrm>
            <a:off x="7178040" y="36027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saveReview()</a:t>
            </a:r>
            <a:endParaRPr/>
          </a:p>
        </p:txBody>
      </p:sp>
      <p:sp>
        <p:nvSpPr>
          <p:cNvPr id="1378" name="Google Shape;1378;p58"/>
          <p:cNvSpPr txBox="1"/>
          <p:nvPr/>
        </p:nvSpPr>
        <p:spPr>
          <a:xfrm>
            <a:off x="9235440" y="36027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Review</a:t>
            </a:r>
            <a:endParaRPr/>
          </a:p>
        </p:txBody>
      </p:sp>
      <p:cxnSp>
        <p:nvCxnSpPr>
          <p:cNvPr id="1379" name="Google Shape;1379;p58"/>
          <p:cNvCxnSpPr/>
          <p:nvPr/>
        </p:nvCxnSpPr>
        <p:spPr>
          <a:xfrm>
            <a:off x="548640" y="4059935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80" name="Google Shape;1380;p58"/>
          <p:cNvSpPr txBox="1"/>
          <p:nvPr/>
        </p:nvSpPr>
        <p:spPr>
          <a:xfrm>
            <a:off x="548640" y="4059935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댓글 등록</a:t>
            </a:r>
            <a:endParaRPr/>
          </a:p>
        </p:txBody>
      </p:sp>
      <p:sp>
        <p:nvSpPr>
          <p:cNvPr id="1381" name="Google Shape;1381;p58"/>
          <p:cNvSpPr txBox="1"/>
          <p:nvPr/>
        </p:nvSpPr>
        <p:spPr>
          <a:xfrm>
            <a:off x="1874519" y="4059935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 / POST /reviews/{id}/comments</a:t>
            </a:r>
            <a:endParaRPr/>
          </a:p>
        </p:txBody>
      </p:sp>
      <p:sp>
        <p:nvSpPr>
          <p:cNvPr id="1382" name="Google Shape;1382;p58"/>
          <p:cNvSpPr txBox="1"/>
          <p:nvPr/>
        </p:nvSpPr>
        <p:spPr>
          <a:xfrm>
            <a:off x="5440679" y="4059935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saveComment()</a:t>
            </a:r>
            <a:endParaRPr/>
          </a:p>
        </p:txBody>
      </p:sp>
      <p:sp>
        <p:nvSpPr>
          <p:cNvPr id="1383" name="Google Shape;1383;p58"/>
          <p:cNvSpPr txBox="1"/>
          <p:nvPr/>
        </p:nvSpPr>
        <p:spPr>
          <a:xfrm>
            <a:off x="7178040" y="4059935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saveComment()</a:t>
            </a:r>
            <a:endParaRPr/>
          </a:p>
        </p:txBody>
      </p:sp>
      <p:sp>
        <p:nvSpPr>
          <p:cNvPr id="1384" name="Google Shape;1384;p58"/>
          <p:cNvSpPr txBox="1"/>
          <p:nvPr/>
        </p:nvSpPr>
        <p:spPr>
          <a:xfrm>
            <a:off x="9235440" y="4059935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ReviewComment</a:t>
            </a:r>
            <a:endParaRPr/>
          </a:p>
        </p:txBody>
      </p:sp>
      <p:cxnSp>
        <p:nvCxnSpPr>
          <p:cNvPr id="1385" name="Google Shape;1385;p58"/>
          <p:cNvCxnSpPr/>
          <p:nvPr/>
        </p:nvCxnSpPr>
        <p:spPr>
          <a:xfrm>
            <a:off x="548640" y="45171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86" name="Google Shape;1386;p58"/>
          <p:cNvSpPr txBox="1"/>
          <p:nvPr/>
        </p:nvSpPr>
        <p:spPr>
          <a:xfrm>
            <a:off x="548640" y="45171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등록</a:t>
            </a:r>
            <a:endParaRPr/>
          </a:p>
        </p:txBody>
      </p:sp>
      <p:sp>
        <p:nvSpPr>
          <p:cNvPr id="1387" name="Google Shape;1387;p58"/>
          <p:cNvSpPr txBox="1"/>
          <p:nvPr/>
        </p:nvSpPr>
        <p:spPr>
          <a:xfrm>
            <a:off x="1874519" y="45171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등록하기 / POST /support/qna/write</a:t>
            </a:r>
            <a:endParaRPr/>
          </a:p>
        </p:txBody>
      </p:sp>
      <p:sp>
        <p:nvSpPr>
          <p:cNvPr id="1388" name="Google Shape;1388;p58"/>
          <p:cNvSpPr txBox="1"/>
          <p:nvPr/>
        </p:nvSpPr>
        <p:spPr>
          <a:xfrm>
            <a:off x="5440679" y="45171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qnaWrite()</a:t>
            </a:r>
            <a:endParaRPr/>
          </a:p>
        </p:txBody>
      </p:sp>
      <p:sp>
        <p:nvSpPr>
          <p:cNvPr id="1389" name="Google Shape;1389;p58"/>
          <p:cNvSpPr txBox="1"/>
          <p:nvPr/>
        </p:nvSpPr>
        <p:spPr>
          <a:xfrm>
            <a:off x="7178040" y="45171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saveQna()</a:t>
            </a:r>
            <a:endParaRPr/>
          </a:p>
        </p:txBody>
      </p:sp>
      <p:sp>
        <p:nvSpPr>
          <p:cNvPr id="1390" name="Google Shape;1390;p58"/>
          <p:cNvSpPr txBox="1"/>
          <p:nvPr/>
        </p:nvSpPr>
        <p:spPr>
          <a:xfrm>
            <a:off x="9235440" y="45171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Qna</a:t>
            </a:r>
            <a:endParaRPr/>
          </a:p>
        </p:txBody>
      </p:sp>
      <p:cxnSp>
        <p:nvCxnSpPr>
          <p:cNvPr id="1391" name="Google Shape;1391;p58"/>
          <p:cNvCxnSpPr/>
          <p:nvPr/>
        </p:nvCxnSpPr>
        <p:spPr>
          <a:xfrm>
            <a:off x="548640" y="49743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2" name="Google Shape;1392;p58"/>
          <p:cNvSpPr txBox="1"/>
          <p:nvPr/>
        </p:nvSpPr>
        <p:spPr>
          <a:xfrm>
            <a:off x="548640" y="49743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상품 등록</a:t>
            </a:r>
            <a:endParaRPr/>
          </a:p>
        </p:txBody>
      </p:sp>
      <p:sp>
        <p:nvSpPr>
          <p:cNvPr id="1393" name="Google Shape;1393;p58"/>
          <p:cNvSpPr txBox="1"/>
          <p:nvPr/>
        </p:nvSpPr>
        <p:spPr>
          <a:xfrm>
            <a:off x="1874519" y="49743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상품 등록 / POST /products/admin/add</a:t>
            </a:r>
            <a:endParaRPr/>
          </a:p>
        </p:txBody>
      </p:sp>
      <p:sp>
        <p:nvSpPr>
          <p:cNvPr id="1394" name="Google Shape;1394;p58"/>
          <p:cNvSpPr txBox="1"/>
          <p:nvPr/>
        </p:nvSpPr>
        <p:spPr>
          <a:xfrm>
            <a:off x="5440679" y="49743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addProduct()</a:t>
            </a:r>
            <a:endParaRPr/>
          </a:p>
        </p:txBody>
      </p:sp>
      <p:sp>
        <p:nvSpPr>
          <p:cNvPr id="1395" name="Google Shape;1395;p58"/>
          <p:cNvSpPr txBox="1"/>
          <p:nvPr/>
        </p:nvSpPr>
        <p:spPr>
          <a:xfrm>
            <a:off x="7178040" y="49743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addProduct()</a:t>
            </a:r>
            <a:endParaRPr/>
          </a:p>
        </p:txBody>
      </p:sp>
      <p:sp>
        <p:nvSpPr>
          <p:cNvPr id="1396" name="Google Shape;1396;p58"/>
          <p:cNvSpPr txBox="1"/>
          <p:nvPr/>
        </p:nvSpPr>
        <p:spPr>
          <a:xfrm>
            <a:off x="9235440" y="49743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Product</a:t>
            </a:r>
            <a:endParaRPr/>
          </a:p>
        </p:txBody>
      </p:sp>
      <p:cxnSp>
        <p:nvCxnSpPr>
          <p:cNvPr id="1397" name="Google Shape;1397;p58"/>
          <p:cNvCxnSpPr/>
          <p:nvPr/>
        </p:nvCxnSpPr>
        <p:spPr>
          <a:xfrm>
            <a:off x="548640" y="54315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8" name="Google Shape;1398;p58"/>
          <p:cNvSpPr txBox="1"/>
          <p:nvPr/>
        </p:nvSpPr>
        <p:spPr>
          <a:xfrm>
            <a:off x="548640" y="5431536"/>
            <a:ext cx="1234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E7D8"/>
                </a:solidFill>
                <a:latin typeface="Arial"/>
                <a:ea typeface="Arial"/>
                <a:cs typeface="Arial"/>
                <a:sym typeface="Arial"/>
              </a:rPr>
              <a:t>Q&amp;A 답변</a:t>
            </a:r>
            <a:endParaRPr/>
          </a:p>
        </p:txBody>
      </p:sp>
      <p:sp>
        <p:nvSpPr>
          <p:cNvPr id="1399" name="Google Shape;1399;p58"/>
          <p:cNvSpPr txBox="1"/>
          <p:nvPr/>
        </p:nvSpPr>
        <p:spPr>
          <a:xfrm>
            <a:off x="1874519" y="543153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Arial"/>
                <a:ea typeface="Arial"/>
                <a:cs typeface="Arial"/>
                <a:sym typeface="Arial"/>
              </a:rPr>
              <a:t>답변 등록 / POST /support/admin/answer/{id}</a:t>
            </a:r>
            <a:endParaRPr/>
          </a:p>
        </p:txBody>
      </p:sp>
      <p:sp>
        <p:nvSpPr>
          <p:cNvPr id="1400" name="Google Shape;1400;p58"/>
          <p:cNvSpPr txBox="1"/>
          <p:nvPr/>
        </p:nvSpPr>
        <p:spPr>
          <a:xfrm>
            <a:off x="5440679" y="5431536"/>
            <a:ext cx="164591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qnaAdminAnswer()</a:t>
            </a:r>
            <a:endParaRPr/>
          </a:p>
        </p:txBody>
      </p:sp>
      <p:sp>
        <p:nvSpPr>
          <p:cNvPr id="1401" name="Google Shape;1401;p58"/>
          <p:cNvSpPr txBox="1"/>
          <p:nvPr/>
        </p:nvSpPr>
        <p:spPr>
          <a:xfrm>
            <a:off x="7178040" y="5431536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saveAnswer()</a:t>
            </a:r>
            <a:endParaRPr/>
          </a:p>
        </p:txBody>
      </p:sp>
      <p:sp>
        <p:nvSpPr>
          <p:cNvPr id="1402" name="Google Shape;1402;p58"/>
          <p:cNvSpPr txBox="1"/>
          <p:nvPr/>
        </p:nvSpPr>
        <p:spPr>
          <a:xfrm>
            <a:off x="9235440" y="5431536"/>
            <a:ext cx="23134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9B8A6"/>
                </a:solidFill>
                <a:latin typeface="Consolas"/>
                <a:ea typeface="Consolas"/>
                <a:cs typeface="Consolas"/>
                <a:sym typeface="Consolas"/>
              </a:rPr>
              <a:t>save() → 기존 Qna 수정</a:t>
            </a:r>
            <a:endParaRPr/>
          </a:p>
        </p:txBody>
      </p:sp>
      <p:cxnSp>
        <p:nvCxnSpPr>
          <p:cNvPr id="1403" name="Google Shape;1403;p58"/>
          <p:cNvCxnSpPr/>
          <p:nvPr/>
        </p:nvCxnSpPr>
        <p:spPr>
          <a:xfrm>
            <a:off x="548640" y="5888736"/>
            <a:ext cx="11094415" cy="0"/>
          </a:xfrm>
          <a:prstGeom prst="straightConnector1">
            <a:avLst/>
          </a:prstGeom>
          <a:noFill/>
          <a:ln w="9525" cap="flat" cmpd="sng">
            <a:solidFill>
              <a:srgbClr val="5E4B3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rniture Brown">
      <a:dk1>
        <a:srgbClr val="000000"/>
      </a:dk1>
      <a:lt1>
        <a:srgbClr val="FFFFFF"/>
      </a:lt1>
      <a:dk2>
        <a:srgbClr val="3B2A20"/>
      </a:dk2>
      <a:lt2>
        <a:srgbClr val="F2E7D5"/>
      </a:lt2>
      <a:accent1>
        <a:srgbClr val="7B5E4A"/>
      </a:accent1>
      <a:accent2>
        <a:srgbClr val="A67C52"/>
      </a:accent2>
      <a:accent3>
        <a:srgbClr val="D1B89A"/>
      </a:accent3>
      <a:accent4>
        <a:srgbClr val="68523B"/>
      </a:accent4>
      <a:accent5>
        <a:srgbClr val="8C755D"/>
      </a:accent5>
      <a:accent6>
        <a:srgbClr val="C0AB9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7015</Words>
  <Application>Microsoft Office PowerPoint</Application>
  <PresentationFormat>와이드스크린</PresentationFormat>
  <Paragraphs>1244</Paragraphs>
  <Slides>58</Slides>
  <Notes>58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3" baseType="lpstr">
      <vt:lpstr>Consolas</vt:lpstr>
      <vt:lpstr>Arial</vt:lpstr>
      <vt:lpstr>Noto Sans KR</vt:lpstr>
      <vt:lpstr>Malgun Gothic</vt:lpstr>
      <vt:lpstr>Office Theme</vt:lpstr>
      <vt:lpstr>PowerPoint 프레젠테이션</vt:lpstr>
      <vt:lpstr>목차</vt:lpstr>
      <vt:lpstr>팀 역할</vt:lpstr>
      <vt:lpstr>기술 및 기본 구조</vt:lpstr>
      <vt:lpstr>MEMBER</vt:lpstr>
      <vt:lpstr>회원가입 화면</vt:lpstr>
      <vt:lpstr>회원가입 코드 ① View / Controller</vt:lpstr>
      <vt:lpstr>회원가입 코드 ② Service / Repository / Entity</vt:lpstr>
      <vt:lpstr>로그인 화면</vt:lpstr>
      <vt:lpstr>로그인 / 로그아웃 처리</vt:lpstr>
      <vt:lpstr>회원정보 화면</vt:lpstr>
      <vt:lpstr>회원정보 조회 / 수정 / 탈퇴</vt:lpstr>
      <vt:lpstr>SHOP</vt:lpstr>
      <vt:lpstr>상품 목록 화면</vt:lpstr>
      <vt:lpstr>상품 목록 조회 방식</vt:lpstr>
      <vt:lpstr>상품 상세 화면</vt:lpstr>
      <vt:lpstr>관련 상품 조회 흐름</vt:lpstr>
      <vt:lpstr>장바구니 추가 처리</vt:lpstr>
      <vt:lpstr>장바구니 추가 코드 ① View / Controller</vt:lpstr>
      <vt:lpstr>장바구니 추가 코드 ② Service</vt:lpstr>
      <vt:lpstr>장바구니 화면</vt:lpstr>
      <vt:lpstr>장바구니 이용</vt:lpstr>
      <vt:lpstr>ORDER</vt:lpstr>
      <vt:lpstr>주문서 화면</vt:lpstr>
      <vt:lpstr>주문 생성</vt:lpstr>
      <vt:lpstr>주문 생성 코드 ① View / Controller</vt:lpstr>
      <vt:lpstr>주문 생성 코드 ② Service</vt:lpstr>
      <vt:lpstr>주문 Entity 관계와 저장되는 정보</vt:lpstr>
      <vt:lpstr>주문 내역 화면</vt:lpstr>
      <vt:lpstr>주문 내역 조회와 배송 확인</vt:lpstr>
      <vt:lpstr>REVIEW</vt:lpstr>
      <vt:lpstr>후기 작성 — 주문 내역</vt:lpstr>
      <vt:lpstr>후기 작성 처리</vt:lpstr>
      <vt:lpstr>후기 작성 코드 ① View / Controller</vt:lpstr>
      <vt:lpstr>후기 작성 코드 ② Service / Repository / Entity</vt:lpstr>
      <vt:lpstr>상품 상세 — 후기 탭</vt:lpstr>
      <vt:lpstr>후기 조회 / 댓글 / 추천</vt:lpstr>
      <vt:lpstr>댓글 등록 / 추천 코드</vt:lpstr>
      <vt:lpstr>Q&amp;A</vt:lpstr>
      <vt:lpstr>Q&amp;A 등록 화면</vt:lpstr>
      <vt:lpstr>Q&amp;A 등록 코드 ① View / Controller</vt:lpstr>
      <vt:lpstr>Q&amp;A 등록 코드 ② Service / Repository / Entity</vt:lpstr>
      <vt:lpstr>내 문의 상세 화면</vt:lpstr>
      <vt:lpstr>내 문의 확인과 답변 보기</vt:lpstr>
      <vt:lpstr>ADMIN</vt:lpstr>
      <vt:lpstr>관리자 상품 등록 화면</vt:lpstr>
      <vt:lpstr>관리자 상품 등록</vt:lpstr>
      <vt:lpstr>상품 등록 코드 ① View / Controller</vt:lpstr>
      <vt:lpstr>상품 등록 코드 ② Service / Entity</vt:lpstr>
      <vt:lpstr>관리자 상품 목록 화면</vt:lpstr>
      <vt:lpstr>관리자 회원 목록 화면</vt:lpstr>
      <vt:lpstr>상품 / 회원 관리 기능</vt:lpstr>
      <vt:lpstr>관리자 주문 목록 화면</vt:lpstr>
      <vt:lpstr>주문 관리 — 주문상태와 배송상태</vt:lpstr>
      <vt:lpstr>관리자 Q&amp;A 목록 화면</vt:lpstr>
      <vt:lpstr>관리자 Q&amp;A 답변 화면</vt:lpstr>
      <vt:lpstr>관리자 Q&amp;A 답변 처리</vt:lpstr>
      <vt:lpstr>MOBILIA 정리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DWIT</cp:lastModifiedBy>
  <cp:revision>1</cp:revision>
  <dcterms:created xsi:type="dcterms:W3CDTF">1980-01-01T00:00:00Z</dcterms:created>
  <dcterms:modified xsi:type="dcterms:W3CDTF">2026-10-13T23:47:37Z</dcterms:modified>
</cp:coreProperties>
</file>